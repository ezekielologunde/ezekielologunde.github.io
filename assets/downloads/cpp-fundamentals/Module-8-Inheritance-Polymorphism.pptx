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114800" cy="4114800"/>
          </a:xfrm>
          <a:prstGeom prst="ellipse">
            <a:avLst/>
          </a:prstGeom>
          <a:solidFill>
            <a:srgbClr val="2A2A3D"/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4389120"/>
            <a:ext cx="2743200" cy="2743200"/>
          </a:xfrm>
          <a:prstGeom prst="ellipse">
            <a:avLst/>
          </a:prstGeom>
          <a:solidFill>
            <a:srgbClr val="2A2A3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STUDENT GRADE &amp; COURSE TRACKER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8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37744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Inheritance &amp; Polymorphism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822960" y="39776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7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base class, many kinds of graded activities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6035040"/>
            <a:ext cx="2743200" cy="0"/>
          </a:xfrm>
          <a:prstGeom prst="line">
            <a:avLst/>
          </a:prstGeom>
          <a:noFill/>
          <a:ln w="25400">
            <a:solidFill>
              <a:srgbClr val="4EC9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College C++ Programming — Intro Sequence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MODULE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6642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inheritance? Sharing logic across related classes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143000" y="22174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3088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308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43000" y="22357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and derived classes: the "is-a" relationship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143000" y="2788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880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" y="28072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access: built for inheritance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143000" y="33604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4518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451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43000" y="33787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Constructors in a class hierarchy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1143000" y="3931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023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43000" y="39502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overriding with virtual and override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1143000" y="45034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5948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594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43000" y="45217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Polymorphism: one interface, many behaviors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1143000" y="5074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5166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5166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143000" y="50932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base classes and pure virtual functions (preview)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1143000" y="56464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57378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" y="5737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43000" y="56647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build: the GradedActivity hierarchy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8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M8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INHERITANCE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 Classes, One Shared Problem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Quiz, Exam, and Homework all need a score and a letter grade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Writing setScore/getScore/getLetterGrade three times invites bugs</a:t>
            </a:r>
            <a:endParaRPr lang="en-US" sz="17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Inheritance lets one base class hold the shared logic</a:t>
            </a:r>
            <a:endParaRPr lang="en-US" sz="1700" dirty="0"/>
          </a:p>
          <a:p>
            <a:pPr lvl="1" marL="457200" indent="-2286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Derived classes automatically get those members</a:t>
            </a:r>
            <a:endParaRPr lang="en-US" sz="170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Each derived class adds only what makes it different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This models an "is-a" relationship: a Quiz IS-A GradedActivity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52360" y="1691640"/>
            <a:ext cx="3977640" cy="2926080"/>
          </a:xfrm>
          <a:prstGeom prst="rect">
            <a:avLst/>
          </a:prstGeom>
          <a:solidFill>
            <a:srgbClr val="1E1E2E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26680" y="1874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IS-A VS HAS-A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26680" y="22402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HAS-A vector of Students (composition). Quiz IS-A GradedActivity (inheritance).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8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M8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&amp; DERIVED CLASSES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Declaring an Inheritance Relationship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4617720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GradedActivity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protected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GradedActivity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getLetterGrade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'F'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The colon means "Quiz inherits from GradedActivity"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GradedActivity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Quiz already has score, setScore, getScore, getLetterGrade!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class Quiz : public GradedActivity means Quiz inherits from it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public inheritance keeps the base's public members public in Quiz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Quiz automatically has setScore, getScore, and getLetterGrade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GradedActivity is the base class; Quiz is the derived class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8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M8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protected Instead of private?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49240" cy="4480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91640"/>
            <a:ext cx="5349240" cy="7315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965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 (Module 6)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2514600"/>
            <a:ext cx="470916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Only visible inside the class itself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Derived classes cannot access it directly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Quiz would be forced to call getScore() for everything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349240" cy="4480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691640"/>
            <a:ext cx="5349240" cy="73152"/>
          </a:xfrm>
          <a:prstGeom prst="rect">
            <a:avLst/>
          </a:prstGeom>
          <a:solidFill>
            <a:srgbClr val="B36F00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1965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protected (this module)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83680" y="2514600"/>
            <a:ext cx="470916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Visible inside the class AND its derived classes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Outside code still cannot touch it directly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Quiz and Exam can work with score internally when needed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8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M8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Construction Works in a Hierarchy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4617720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GradedActivity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numProblems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problems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numProblems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problems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setNumCorrect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correct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setScore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static_cast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correct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numProblems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GradedActivity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examWeight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examWeight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quiz1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</a:t>
            </a:r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GradedActivity() runs first, then Quiz's body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midterm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1.5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GradedActivity() runs first, then Exam's body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The base class's constructor always runs first, automatically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GradedActivity() sets score to 0.0 before the derived body runs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Quiz's init list, numProblems(problems), sets its own member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Derived constructors never repeat the base class's setup logic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8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M8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Giving Exam Its Own Grading Scale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4709160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GradedActivity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protected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virtual allows derived classes to safely replace this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virtual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getLetterGrade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'F'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GradedActivity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examWeight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examWeight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override signals: this replaces the base version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getLetterGrade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override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93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'F'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Exam uses a tougher scale: 93+ for an A instead of 90+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override tells the compiler this must match a virtual base method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The compiler catches typos in name or signature as errors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virtual in the base class is what makes this overriding work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8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M8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POLYMORPHISM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Pointer Type, Many Behaviors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3645408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314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quiz1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quiz1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setNumCorrect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midterm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1.5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midterm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setScore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GradedActivity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activities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activities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push_back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quiz1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activities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push_back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midterm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GradedActivity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activities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"Score: 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getScore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 Grade: 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getLetterGrade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activities holds GradedActivity* pointers to a Quiz and an Exam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a-&gt;getLetterGrade() runs the actual object's version, not the base's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This only works because getLetterGrade() is declared virtual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Without virtual, every call would use GradedActivity's version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One loop treats every graded activity type uniformly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5474208"/>
            <a:ext cx="6858000" cy="8595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C7B"/>
                </a:solidFill>
              </a:rPr>
              <a:t>OUTPUT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Score: 90  Grade: A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Score: 88  Grade: B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8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M8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ABSTRACT CLASSES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a Base Class Should Never Stand Alone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A pure virtual function has no body: virtual char foo() const = 0;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It means every derived class MUST provide its own version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A class with even one pure virtual function is abstract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Abstract classes cannot be instantiated directly on their own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GradedActivity here is NOT abstract — getLetterGrade() has a real body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52360" y="1691640"/>
            <a:ext cx="3977640" cy="2926080"/>
          </a:xfrm>
          <a:prstGeom prst="rect">
            <a:avLst/>
          </a:prstGeom>
          <a:solidFill>
            <a:srgbClr val="1E1E2E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26680" y="1874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26680" y="22402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designs often make a base class abstract on purpose, forcing every subtype to define its own behavior.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8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"/>
            <a:ext cx="2834640" cy="3657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65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BUILD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Build: The GradedActivity Hierarchy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6858000" cy="4572000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78308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9" name="Shape 7"/>
          <p:cNvSpPr/>
          <p:nvPr/>
        </p:nvSpPr>
        <p:spPr>
          <a:xfrm>
            <a:off x="713232" y="187452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0" name="Shape 8"/>
          <p:cNvSpPr/>
          <p:nvPr/>
        </p:nvSpPr>
        <p:spPr>
          <a:xfrm>
            <a:off x="932688" y="187452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2144" y="187452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178308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2167128"/>
            <a:ext cx="63093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iostream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namespace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GradedActivity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protected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GradedActivity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virtual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getLetterGrade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'F'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GradedActivity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numProblems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numProblems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setNumCorrect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correct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static_cast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correct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numProblems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GradedActivity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examWeight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examWeight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getLetterGrade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override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93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'F'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Homework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GradedActivity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Homework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quiz1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quiz1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setNumCorrect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midterm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1.5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midterm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Homework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hw1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hw1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GradedActivity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activities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activities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push_back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quiz1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activities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push_back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midterm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activities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push_back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hw1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GradedActivity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activities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"Score: "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getScore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 Grade: "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getLetterGrade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635240" y="1783080"/>
            <a:ext cx="3977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GradedActivity centralizes score storage and default grading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Quiz and Exam each customize only what makes them different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Homework needs no extra code — it inherits everything as-is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The vector&lt;GradedActivity*&gt; loop treats all three types identically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8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EXERCISE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 Turn: Build ExtraCredit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67665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Create a new class ExtraCredit : public GradedActivity</a:t>
            </a:r>
            <a:endParaRPr lang="en-US" sz="1800" dirty="0"/>
          </a:p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Override getLetterGrade() so scores are boosted by 5 points before grading</a:t>
            </a:r>
            <a:endParaRPr lang="en-US" sz="1800" dirty="0"/>
          </a:p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A raw score of 75 should earn the same letter as an 80 (a B)</a:t>
            </a:r>
            <a:endParaRPr lang="en-US" sz="1800" dirty="0"/>
          </a:p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Do NOT change the stored score itself, only the comparisons</a:t>
            </a:r>
            <a:endParaRPr lang="en-US" sz="1800" dirty="0"/>
          </a:p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Test it inside a vector&lt;GradedActivity*&gt; alongside Quiz and Exam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35240" y="1828800"/>
            <a:ext cx="3977640" cy="2743200"/>
          </a:xfrm>
          <a:prstGeom prst="rect">
            <a:avLst/>
          </a:prstGeom>
          <a:solidFill>
            <a:srgbClr val="2A2A3D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0" y="2011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863840" y="2423160"/>
            <a:ext cx="3566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D8E8"/>
                </a:solidFill>
              </a:rPr>
              <a:t>Override getLetterGrade() const and mark it override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D8E8"/>
                </a:solidFill>
              </a:rPr>
              <a:t>Compare (score + 5) against the grade thresholds, not score alone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D8E8"/>
                </a:solidFill>
              </a:rPr>
              <a:t>Match the base signature exactly: char getLetterGrade() const override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2A2A3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RECAP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9875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public inheritance models an "is-a" relationship between classes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protected gives derived classes direct access while blocking outside code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The base class constructor always runs before the derived constructor's body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virtual plus override let derived classes safely replace inherited behavior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Base-class pointers and vectors let you treat different derived types uniformly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solidFill>
            <a:srgbClr val="2A2A3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55778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0A500"/>
                </a:solidFill>
              </a:rPr>
              <a:t>NEXT UP   </a:t>
            </a:r>
            <a:pPr indent="0" marL="0">
              <a:buNone/>
            </a:pPr>
            <a:r>
              <a:rPr lang="en-US" sz="1400" i="1" dirty="0">
                <a:solidFill>
                  <a:srgbClr val="F2F2F2"/>
                </a:solidFill>
              </a:rPr>
              <a:t>Module 9 — File I/O &amp; Finishing the Tracker: save/load student data with file streams, sort records with STL algorithms, and assemble every class built so far into the final Student Grade &amp; Course Tracker.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8: Inheritance &amp; Polymorphism</dc:title>
  <dc:subject>PptxGenJS Presentation</dc:subject>
  <dc:creator>C++ Fundamentals Course</dc:creator>
  <cp:lastModifiedBy>C++ Fundamentals Course</cp:lastModifiedBy>
  <cp:revision>1</cp:revision>
  <dcterms:created xsi:type="dcterms:W3CDTF">2026-08-29T18:23:47Z</dcterms:created>
  <dcterms:modified xsi:type="dcterms:W3CDTF">2026-08-29T18:23:47Z</dcterms:modified>
</cp:coreProperties>
</file>