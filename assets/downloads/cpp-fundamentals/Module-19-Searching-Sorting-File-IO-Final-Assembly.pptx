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2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389120"/>
            <a:ext cx="2743200" cy="2743200"/>
          </a:xfrm>
          <a:prstGeom prst="ellipse">
            <a:avLst/>
          </a:prstGeom>
          <a:solidFill>
            <a:srgbClr val="2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EC9B0"/>
                </a:solidFill>
                <a:latin typeface="Calibri"/>
              </a:rPr>
              <a:t>C++ FUNDAMENTALS  ·  STUDENT GRADE &amp; COURSE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0A500"/>
                </a:solidFill>
                <a:latin typeface="Consolas"/>
              </a:rPr>
              <a:t>MODULE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102412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600" b="1" i="0">
                <a:solidFill>
                  <a:srgbClr val="F2F2F2"/>
                </a:solidFill>
                <a:latin typeface="Consolas"/>
              </a:rPr>
              <a:t>Searching, Sorting, File I/O &amp; Final Assembly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7C7DA"/>
                </a:solidFill>
                <a:latin typeface="Calibri"/>
              </a:rPr>
              <a:t>Sort it, search it, save it — the capstone finale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6035040"/>
            <a:ext cx="2743200" cy="0"/>
          </a:xfrm>
          <a:prstGeom prst="line">
            <a:avLst/>
          </a:prstGeom>
          <a:ln w="25400">
            <a:solidFill>
              <a:srgbClr val="4EC9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A3"/>
                </a:solidFill>
                <a:latin typeface="Calibri"/>
              </a:rPr>
              <a:t>Community College C++ Programming — Intro Sequence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EC9B0"/>
                </a:solidFill>
                <a:latin typeface="Calibri"/>
              </a:rPr>
              <a:t>IN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2F2F2"/>
                </a:solidFill>
                <a:latin typeface="Consolas"/>
              </a:rPr>
              <a:t>What We'll Cover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32349" cy="332349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98" b="1" i="0">
                <a:solidFill>
                  <a:srgbClr val="1E1E2E"/>
                </a:solidFill>
                <a:latin typeface="Consola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795584"/>
            <a:ext cx="10241280" cy="474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2F2F2"/>
                </a:solidFill>
                <a:latin typeface="Calibri"/>
              </a:rPr>
              <a:t>Searching a list: the sequential search idea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43000" y="2211704"/>
            <a:ext cx="9601200" cy="0"/>
          </a:xfrm>
          <a:prstGeom prst="line">
            <a:avLst/>
          </a:prstGeom>
          <a:ln w="12700">
            <a:solidFill>
              <a:srgbClr val="2A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2303145"/>
            <a:ext cx="332349" cy="332349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98" b="1" i="0">
                <a:solidFill>
                  <a:srgbClr val="1E1E2E"/>
                </a:solidFill>
                <a:latin typeface="Consola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361369"/>
            <a:ext cx="10241280" cy="474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2F2F2"/>
                </a:solidFill>
                <a:latin typeface="Calibri"/>
              </a:rPr>
              <a:t>Coding a linear search over the roster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43000" y="2777489"/>
            <a:ext cx="9601200" cy="0"/>
          </a:xfrm>
          <a:prstGeom prst="line">
            <a:avLst/>
          </a:prstGeom>
          <a:ln w="12700">
            <a:solidFill>
              <a:srgbClr val="2A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868929"/>
            <a:ext cx="332349" cy="332349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98" b="1" i="0">
                <a:solidFill>
                  <a:srgbClr val="1E1E2E"/>
                </a:solidFill>
                <a:latin typeface="Consola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27154"/>
            <a:ext cx="10241280" cy="474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2F2F2"/>
                </a:solidFill>
                <a:latin typeface="Calibri"/>
              </a:rPr>
              <a:t>How bubble sort and insertion sort work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43000" y="3343274"/>
            <a:ext cx="9601200" cy="0"/>
          </a:xfrm>
          <a:prstGeom prst="line">
            <a:avLst/>
          </a:prstGeom>
          <a:ln w="12700">
            <a:solidFill>
              <a:srgbClr val="2A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8640" y="3434714"/>
            <a:ext cx="332349" cy="332349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98" b="1" i="0">
                <a:solidFill>
                  <a:srgbClr val="1E1E2E"/>
                </a:solidFill>
                <a:latin typeface="Consola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492939"/>
            <a:ext cx="10241280" cy="474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2F2F2"/>
                </a:solidFill>
                <a:latin typeface="Calibri"/>
              </a:rPr>
              <a:t>Sorting the roster with std::sort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43000" y="3909060"/>
            <a:ext cx="9601200" cy="0"/>
          </a:xfrm>
          <a:prstGeom prst="line">
            <a:avLst/>
          </a:prstGeom>
          <a:ln w="12700">
            <a:solidFill>
              <a:srgbClr val="2A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8640" y="4000500"/>
            <a:ext cx="332349" cy="332349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98" b="1" i="0">
                <a:solidFill>
                  <a:srgbClr val="1E1E2E"/>
                </a:solidFill>
                <a:latin typeface="Consola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058724"/>
            <a:ext cx="10241280" cy="474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2F2F2"/>
                </a:solidFill>
                <a:latin typeface="Calibri"/>
              </a:rPr>
              <a:t>Binary search: divide and conquer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43000" y="4474845"/>
            <a:ext cx="9601200" cy="0"/>
          </a:xfrm>
          <a:prstGeom prst="line">
            <a:avLst/>
          </a:prstGeom>
          <a:ln w="12700">
            <a:solidFill>
              <a:srgbClr val="2A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8640" y="4566285"/>
            <a:ext cx="332349" cy="332349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98" b="1" i="0">
                <a:solidFill>
                  <a:srgbClr val="1E1E2E"/>
                </a:solidFill>
                <a:latin typeface="Consola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624509"/>
            <a:ext cx="10241280" cy="474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2F2F2"/>
                </a:solidFill>
                <a:latin typeface="Calibri"/>
              </a:rPr>
              <a:t>Persisting data with fstream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43000" y="5040630"/>
            <a:ext cx="9601200" cy="0"/>
          </a:xfrm>
          <a:prstGeom prst="line">
            <a:avLst/>
          </a:prstGeom>
          <a:ln w="12700">
            <a:solidFill>
              <a:srgbClr val="2A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48640" y="5132070"/>
            <a:ext cx="332349" cy="332349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98" b="1" i="0">
                <a:solidFill>
                  <a:srgbClr val="1E1E2E"/>
                </a:solidFill>
                <a:latin typeface="Consolas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190294"/>
            <a:ext cx="10241280" cy="474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2F2F2"/>
                </a:solidFill>
                <a:latin typeface="Calibri"/>
              </a:rPr>
              <a:t>Writing the roster to a file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43000" y="5606415"/>
            <a:ext cx="9601200" cy="0"/>
          </a:xfrm>
          <a:prstGeom prst="line">
            <a:avLst/>
          </a:prstGeom>
          <a:ln w="12700">
            <a:solidFill>
              <a:srgbClr val="2A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48640" y="5697855"/>
            <a:ext cx="332349" cy="332349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98" b="1" i="0">
                <a:solidFill>
                  <a:srgbClr val="1E1E2E"/>
                </a:solidFill>
                <a:latin typeface="Consolas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756079"/>
            <a:ext cx="10241280" cy="474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2F2F2"/>
                </a:solidFill>
                <a:latin typeface="Calibri"/>
              </a:rPr>
              <a:t>Final project requirements and the grading rubric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8AA3"/>
                </a:solidFill>
                <a:latin typeface="Calibri"/>
              </a:rPr>
              <a:t>C++ FUNDAMENTALS  ·  MODULE 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A3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E7C7B"/>
                </a:solidFill>
                <a:latin typeface="Consolas"/>
              </a:rPr>
              <a:t>M19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SEARCHING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  <a:latin typeface="Consolas"/>
              </a:rPr>
              <a:t>Searching a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65836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A list is just a collection of values of the same type — your roster vector qualifies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Sequential (linear) search checks every element in order until it finds a match or runs out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It doesn't care whether the list is sorted — that's its main advantage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On average it costs about half the list's size in comparisons — slow for big 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52360" y="1691640"/>
            <a:ext cx="3977639" cy="29260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874519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  <a:latin typeface="Calibri"/>
              </a:rPr>
              <a:t>STL SHORTCUT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240280"/>
            <a:ext cx="3474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F2F2F2"/>
                </a:solidFill>
                <a:latin typeface="Calibri"/>
              </a:rPr>
              <a:t>find_if() from &lt;algorithm&gt; runs a sequential search for you — just supply what counts as a match.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C++ FUNDAMENTALS  ·  MODULE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E7C7B"/>
                </a:solidFill>
                <a:latin typeface="Consolas"/>
              </a:rPr>
              <a:t>M19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SEARCHING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  <a:latin typeface="Consolas"/>
              </a:rPr>
              <a:t>Linear Search for a Student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6858000" cy="345734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6858000" cy="292608"/>
          </a:xfrm>
          <a:prstGeom prst="rect">
            <a:avLst/>
          </a:prstGeom>
          <a:solidFill>
            <a:srgbClr val="2D2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7373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7373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2144" y="17373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5760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BA3"/>
                </a:solidFill>
                <a:latin typeface="Consolas"/>
              </a:rPr>
              <a:t>main.cpp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29968"/>
            <a:ext cx="6309360" cy="32104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860"/>
              </a:lnSpc>
            </a:pPr>
            <a:r>
              <a:rPr sz="1400" b="0" i="0">
                <a:solidFill>
                  <a:srgbClr val="569CD6"/>
                </a:solidFill>
                <a:latin typeface="Consolas"/>
              </a:rPr>
              <a:t>int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findById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const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4EC9B0"/>
                </a:solidFill>
                <a:latin typeface="Consolas"/>
              </a:rPr>
              <a:t>vector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&lt;</a:t>
            </a:r>
            <a:r>
              <a:rPr sz="1400" b="0" i="0">
                <a:solidFill>
                  <a:srgbClr val="4EC9B0"/>
                </a:solidFill>
                <a:latin typeface="Consolas"/>
              </a:rPr>
              <a:t>Student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&gt;&amp;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int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for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int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0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&lt;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.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size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();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++)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if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[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].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getId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==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-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1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569CD6"/>
                </a:solidFill>
                <a:latin typeface="Consolas"/>
              </a:rPr>
              <a:t>int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idx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findById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1002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569CD6"/>
                </a:solidFill>
                <a:latin typeface="Consolas"/>
              </a:rPr>
              <a:t>if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idx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!=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-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1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cout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[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idx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].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getName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();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569CD6"/>
                </a:solidFill>
                <a:latin typeface="Consolas"/>
              </a:rPr>
              <a:t>else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cout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CE9178"/>
                </a:solidFill>
                <a:latin typeface="Consolas"/>
              </a:rPr>
              <a:t>"Not found"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645920"/>
            <a:ext cx="3977639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Walks the vector index by index, comparing each Student's ID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Returns the index on a match, or -1 if nobody has that ID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This is exactly what find_if() automates using a lambda instead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Works whether the roster is sorted or not — sequential search doesn't care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86146"/>
            <a:ext cx="68580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000" b="1" i="0">
                <a:solidFill>
                  <a:srgbClr val="0E7C7B"/>
                </a:solidFill>
                <a:latin typeface="Calibri"/>
              </a:rPr>
              <a:t>OUTPUT</a:t>
            </a:r>
          </a:p>
          <a:p>
            <a:r>
              <a:rPr sz="1200" b="0" i="0">
                <a:solidFill>
                  <a:srgbClr val="1E1E2E"/>
                </a:solidFill>
                <a:latin typeface="Consolas"/>
              </a:rPr>
              <a:t>James Okoro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C++ FUNDAMENTALS  ·  MODULE 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E7C7B"/>
                </a:solidFill>
                <a:latin typeface="Consolas"/>
              </a:rPr>
              <a:t>M19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SORTING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  <a:latin typeface="Consolas"/>
              </a:rPr>
              <a:t>Sorting a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65836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Bubble sort compares neighbors and swaps them, so bigger values bubble to the end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Insertion sort grows a sorted section one element at a time, inserting each new value in place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Both are simple but slow — comparisons grow roughly with the square of the list size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That's fine for small rosters, but real code leans on the STL's std::sort instead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452360" y="1691640"/>
            <a:ext cx="3977639" cy="29260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874519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  <a:latin typeface="Calibri"/>
              </a:rP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240280"/>
            <a:ext cx="3474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F2F2F2"/>
                </a:solidFill>
                <a:latin typeface="Calibri"/>
              </a:rPr>
              <a:t>A sorted roster is what makes binary search possible — and what a printed grade report should look like.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C++ FUNDAMENTALS  ·  MODULE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E7C7B"/>
                </a:solidFill>
                <a:latin typeface="Consolas"/>
              </a:rPr>
              <a:t>M19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SORTING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  <a:latin typeface="Consolas"/>
              </a:rPr>
              <a:t>Sorting the Roster with sort()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6858000" cy="3231489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6858000" cy="292608"/>
          </a:xfrm>
          <a:prstGeom prst="rect">
            <a:avLst/>
          </a:prstGeom>
          <a:solidFill>
            <a:srgbClr val="2D2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7373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7373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2144" y="17373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5760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BA3"/>
                </a:solidFill>
                <a:latin typeface="Consolas"/>
              </a:rPr>
              <a:t>main.cpp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29968"/>
            <a:ext cx="6309360" cy="29846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860"/>
              </a:lnSpc>
            </a:pPr>
            <a:r>
              <a:rPr sz="1400" b="0" i="0">
                <a:solidFill>
                  <a:srgbClr val="C586C0"/>
                </a:solidFill>
                <a:latin typeface="Consolas"/>
              </a:rPr>
              <a:t>#include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&lt;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algorithm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569CD6"/>
                </a:solidFill>
                <a:latin typeface="Consolas"/>
              </a:rPr>
              <a:t>using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namespace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std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569CD6"/>
                </a:solidFill>
                <a:latin typeface="Consolas"/>
              </a:rPr>
              <a:t>void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sortByAverage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4EC9B0"/>
                </a:solidFill>
                <a:latin typeface="Consolas"/>
              </a:rPr>
              <a:t>vector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&lt;</a:t>
            </a:r>
            <a:r>
              <a:rPr sz="1400" b="0" i="0">
                <a:solidFill>
                  <a:srgbClr val="4EC9B0"/>
                </a:solidFill>
                <a:latin typeface="Consolas"/>
              </a:rPr>
              <a:t>Student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&gt;&amp;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sort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.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begin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(),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.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end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(),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[](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const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4EC9B0"/>
                </a:solidFill>
                <a:latin typeface="Consolas"/>
              </a:rPr>
              <a:t>Student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&amp;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a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const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4EC9B0"/>
                </a:solidFill>
                <a:latin typeface="Consolas"/>
              </a:rPr>
              <a:t>Student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&amp;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b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a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.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getPercentage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      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b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.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getPercentage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();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});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645920"/>
            <a:ext cx="3977639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sort() from &lt;algorithm&gt; works on a begin/end iterator range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The third argument is a lambda — a small unnamed function written inline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Comparing with &gt; sorts highest percentage first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One call replaces writing your own bubble or insertion sort by hand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C++ FUNDAMENTALS  ·  MODULE 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E7C7B"/>
                </a:solidFill>
                <a:latin typeface="Consolas"/>
              </a:rPr>
              <a:t>M19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SEARCHING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  <a:latin typeface="Consolas"/>
              </a:rPr>
              <a:t>Binary Search: Divide and Conquer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6858000" cy="300563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6858000" cy="292608"/>
          </a:xfrm>
          <a:prstGeom prst="rect">
            <a:avLst/>
          </a:prstGeom>
          <a:solidFill>
            <a:srgbClr val="2D2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7373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7373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2144" y="17373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5760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BA3"/>
                </a:solidFill>
                <a:latin typeface="Consolas"/>
              </a:rPr>
              <a:t>main.cpp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29968"/>
            <a:ext cx="6309360" cy="2758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860"/>
              </a:lnSpc>
            </a:pPr>
            <a:r>
              <a:rPr sz="1400" b="0" i="0">
                <a:solidFill>
                  <a:srgbClr val="569CD6"/>
                </a:solidFill>
                <a:latin typeface="Consolas"/>
              </a:rPr>
              <a:t>int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binarySearch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const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4EC9B0"/>
                </a:solidFill>
                <a:latin typeface="Consolas"/>
              </a:rPr>
              <a:t>vector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&lt;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int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&gt;&amp;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sorted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int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target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int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low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0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high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sorted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.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size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-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1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while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low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&lt;=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high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int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mid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low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+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high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/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2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if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sorted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[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mid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]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==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target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mid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if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sorted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[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mid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]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&lt;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target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low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mid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+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1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else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high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mid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-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1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-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1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645920"/>
            <a:ext cx="3977639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Only works on a sorted list — that's the tradeoff for the speed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Compares the target to the middle element, then discards half the list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Repeats on the half that's left until it finds the value or runs out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A 1,000-item list takes about 10 comparisons instead of 500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Swap int for Student and this searches a sorted roster by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C++ FUNDAMENTALS  ·  MODULE 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E7C7B"/>
                </a:solidFill>
                <a:latin typeface="Consolas"/>
              </a:rPr>
              <a:t>M19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FILE I/O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  <a:latin typeface="Consolas"/>
              </a:rPr>
              <a:t>Saving Data with &lt;fstream&gt;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65836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Every Student and Course you've built so far lives only in memory until now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#include &lt;fstream&gt; adds two stream types: ofstream for writing, ifstream for reading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The pattern is always the same: open the file, use it, then close it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Always check .is_open() first — a missing file isn't a crash, it's just an empty roster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52360" y="1691640"/>
            <a:ext cx="3977639" cy="29260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874519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  <a:latin typeface="Calibri"/>
              </a:rPr>
              <a:t>MEMORY VS. DISK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240280"/>
            <a:ext cx="3474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F2F2F2"/>
                </a:solidFill>
                <a:latin typeface="Calibri"/>
              </a:rPr>
              <a:t>Variables vanish the moment main() returns. Files on disk survive until something deletes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C++ FUNDAMENTALS  ·  MODULE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E7C7B"/>
                </a:solidFill>
                <a:latin typeface="Consolas"/>
              </a:rPr>
              <a:t>M19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FILE I/O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  <a:latin typeface="Consolas"/>
              </a:rPr>
              <a:t>Writing the Roster to a 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6858000" cy="3427171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6858000" cy="292608"/>
          </a:xfrm>
          <a:prstGeom prst="rect">
            <a:avLst/>
          </a:prstGeom>
          <a:solidFill>
            <a:srgbClr val="2D2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7373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7373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2144" y="17373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5760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BA3"/>
                </a:solidFill>
                <a:latin typeface="Consolas"/>
              </a:rPr>
              <a:t>main.cpp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29968"/>
            <a:ext cx="6309360" cy="31802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660"/>
              </a:lnSpc>
            </a:pPr>
            <a:r>
              <a:rPr sz="1200" b="0" i="0">
                <a:solidFill>
                  <a:srgbClr val="569CD6"/>
                </a:solidFill>
                <a:latin typeface="Consolas"/>
              </a:rPr>
              <a:t>void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CDCAA"/>
                </a:solidFill>
                <a:latin typeface="Consolas"/>
              </a:rPr>
              <a:t>saveRoster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200" b="0" i="0">
                <a:solidFill>
                  <a:srgbClr val="569CD6"/>
                </a:solidFill>
                <a:latin typeface="Consolas"/>
              </a:rPr>
              <a:t>const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4EC9B0"/>
                </a:solidFill>
                <a:latin typeface="Consolas"/>
              </a:rPr>
              <a:t>vector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&lt;</a:t>
            </a:r>
            <a:r>
              <a:rPr sz="1200" b="0" i="0">
                <a:solidFill>
                  <a:srgbClr val="4EC9B0"/>
                </a:solidFill>
                <a:latin typeface="Consolas"/>
              </a:rPr>
              <a:t>Student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&gt;&amp;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660"/>
              </a:lnSpc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4EC9B0"/>
                </a:solidFill>
                <a:latin typeface="Consolas"/>
              </a:rPr>
              <a:t>ofstream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CDCAA"/>
                </a:solidFill>
                <a:latin typeface="Consolas"/>
              </a:rPr>
              <a:t>outFile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("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txt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");</a:t>
            </a:r>
          </a:p>
          <a:p>
            <a:pPr>
              <a:lnSpc>
                <a:spcPts val="1660"/>
              </a:lnSpc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569CD6"/>
                </a:solidFill>
                <a:latin typeface="Consolas"/>
              </a:rPr>
              <a:t>if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(!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outFile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 i="0">
                <a:solidFill>
                  <a:srgbClr val="DCDCAA"/>
                </a:solidFill>
                <a:latin typeface="Consolas"/>
              </a:rPr>
              <a:t>is_open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())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660"/>
              </a:lnSpc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cout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CE9178"/>
                </a:solidFill>
                <a:latin typeface="Consolas"/>
              </a:rPr>
              <a:t>"Could not save file.\n"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660"/>
              </a:lnSpc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20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660"/>
              </a:lnSpc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ts val="1660"/>
              </a:lnSpc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569CD6"/>
                </a:solidFill>
                <a:latin typeface="Consolas"/>
              </a:rPr>
              <a:t>for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200" b="0" i="0">
                <a:solidFill>
                  <a:srgbClr val="569CD6"/>
                </a:solidFill>
                <a:latin typeface="Consolas"/>
              </a:rPr>
              <a:t>const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4EC9B0"/>
                </a:solidFill>
                <a:latin typeface="Consolas"/>
              </a:rPr>
              <a:t>Student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&amp;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s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: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660"/>
              </a:lnSpc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outFile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s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 i="0">
                <a:solidFill>
                  <a:srgbClr val="DCDCAA"/>
                </a:solidFill>
                <a:latin typeface="Consolas"/>
              </a:rPr>
              <a:t>getName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()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CE9178"/>
                </a:solidFill>
                <a:latin typeface="Consolas"/>
              </a:rPr>
              <a:t>","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660"/>
              </a:lnSpc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outFile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s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 i="0">
                <a:solidFill>
                  <a:srgbClr val="DCDCAA"/>
                </a:solidFill>
                <a:latin typeface="Consolas"/>
              </a:rPr>
              <a:t>getId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()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CE9178"/>
                </a:solidFill>
                <a:latin typeface="Consolas"/>
              </a:rPr>
              <a:t>","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660"/>
              </a:lnSpc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outFile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s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 i="0">
                <a:solidFill>
                  <a:srgbClr val="DCDCAA"/>
                </a:solidFill>
                <a:latin typeface="Consolas"/>
              </a:rPr>
              <a:t>getPointsEarned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()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CE9178"/>
                </a:solidFill>
                <a:latin typeface="Consolas"/>
              </a:rPr>
              <a:t>","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660"/>
              </a:lnSpc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outFile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s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.</a:t>
            </a:r>
            <a:r>
              <a:rPr sz="1200" b="0" i="0">
                <a:solidFill>
                  <a:srgbClr val="DCDCAA"/>
                </a:solidFill>
                <a:latin typeface="Consolas"/>
              </a:rPr>
              <a:t>getPointsPossible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()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CE9178"/>
                </a:solidFill>
                <a:latin typeface="Consolas"/>
              </a:rPr>
              <a:t>"\n"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660"/>
              </a:lnSpc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ts val="1660"/>
              </a:lnSpc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cout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200" b="0" i="0">
                <a:solidFill>
                  <a:srgbClr val="CE9178"/>
                </a:solidFill>
                <a:latin typeface="Consolas"/>
              </a:rPr>
              <a:t>"Roster saved.\n"</a:t>
            </a:r>
            <a:r>
              <a:rPr sz="12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660"/>
              </a:lnSpc>
            </a:pPr>
            <a:r>
              <a:rPr sz="1200" b="0" i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645920"/>
            <a:ext cx="3977639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ofstream outFile("roster.txt") opens the file for writing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is_open() check avoids a silent crash if the file can't be created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Each student becomes one line: name, id, points earned, points possible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Saving raw points instead of an average keeps letter grades accurate later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5971"/>
            <a:ext cx="68580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000" b="1" i="0">
                <a:solidFill>
                  <a:srgbClr val="0E7C7B"/>
                </a:solidFill>
                <a:latin typeface="Calibri"/>
              </a:rPr>
              <a:t>OUTPUT</a:t>
            </a:r>
          </a:p>
          <a:p>
            <a:r>
              <a:rPr sz="1200" b="0" i="0">
                <a:solidFill>
                  <a:srgbClr val="1E1E2E"/>
                </a:solidFill>
                <a:latin typeface="Consolas"/>
              </a:rPr>
              <a:t>Roster saved.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C++ FUNDAMENTALS  ·  MODULE 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E7C7B"/>
                </a:solidFill>
                <a:latin typeface="Consolas"/>
              </a:rPr>
              <a:t>M19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  <a:latin typeface="Consolas"/>
              </a:rPr>
              <a:t>Final Project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65836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A Student class with private, encapsulated data and clear accessor methods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A Course class that holds the whole roster in a vector&lt;Student&gt;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Add students, record grades, and compute averages and letter grades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Sort the roster with std::sort and locate a student with find_if or binary search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Save and reload the roster with ofstream/ifstream, driven by a menu-based main()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52360" y="1691640"/>
            <a:ext cx="3977639" cy="29260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874519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  <a:latin typeface="Calibri"/>
              </a:rPr>
              <a:t>GRADING RUBRIC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240280"/>
            <a:ext cx="3474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sz="1400" b="0" i="0">
                <a:solidFill>
                  <a:srgbClr val="F2F2F2"/>
                </a:solidFill>
                <a:latin typeface="Calibri"/>
              </a:rPr>
              <a:t>Correctness &amp; program behavior — 40%</a:t>
            </a:r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sz="1400" b="0" i="0">
                <a:solidFill>
                  <a:srgbClr val="F2F2F2"/>
                </a:solidFill>
                <a:latin typeface="Calibri"/>
              </a:rPr>
              <a:t>Class design, file persistence &amp; style — 50%</a:t>
            </a:r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sz="1400" b="0" i="0">
                <a:solidFill>
                  <a:srgbClr val="F2F2F2"/>
                </a:solidFill>
                <a:latin typeface="Calibri"/>
              </a:rPr>
              <a:t>Menu flow &amp; user experience — 10%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C++ FUNDAMENTALS  ·  MODULE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E7C7B"/>
                </a:solidFill>
                <a:latin typeface="Consolas"/>
              </a:rPr>
              <a:t>M19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834640" cy="365760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0" tIns="0" bIns="0"/>
          <a:lstStyle/>
          <a:p>
            <a:pPr algn="ctr"/>
            <a:r>
              <a:rPr sz="1300" b="1" i="0">
                <a:solidFill>
                  <a:srgbClr val="1E1E2E"/>
                </a:solidFill>
                <a:latin typeface="Calibri"/>
              </a:rPr>
              <a:t>PROJECT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  <a:latin typeface="Consolas"/>
              </a:rPr>
              <a:t>Project Build: Loading the Roster on Startup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6858000" cy="413491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6858000" cy="292608"/>
          </a:xfrm>
          <a:prstGeom prst="rect">
            <a:avLst/>
          </a:prstGeom>
          <a:solidFill>
            <a:srgbClr val="2D2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874519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874519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2144" y="1874519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783080"/>
            <a:ext cx="5760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BA3"/>
                </a:solidFill>
                <a:latin typeface="Consolas"/>
              </a:rPr>
              <a:t>main.cpp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67128"/>
            <a:ext cx="6309360" cy="3888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860"/>
              </a:lnSpc>
            </a:pPr>
            <a:r>
              <a:rPr sz="1400" b="0" i="0">
                <a:solidFill>
                  <a:srgbClr val="4EC9B0"/>
                </a:solidFill>
                <a:latin typeface="Consolas"/>
              </a:rPr>
              <a:t>vector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&lt;</a:t>
            </a:r>
            <a:r>
              <a:rPr sz="1400" b="0" i="0">
                <a:solidFill>
                  <a:srgbClr val="4EC9B0"/>
                </a:solidFill>
                <a:latin typeface="Consolas"/>
              </a:rPr>
              <a:t>Student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&gt;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loadRoster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4EC9B0"/>
                </a:solidFill>
                <a:latin typeface="Consolas"/>
              </a:rPr>
              <a:t>vector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&lt;</a:t>
            </a:r>
            <a:r>
              <a:rPr sz="1400" b="0" i="0">
                <a:solidFill>
                  <a:srgbClr val="4EC9B0"/>
                </a:solidFill>
                <a:latin typeface="Consolas"/>
              </a:rPr>
              <a:t>Student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&gt;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4EC9B0"/>
                </a:solidFill>
                <a:latin typeface="Consolas"/>
              </a:rPr>
              <a:t>ifstream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inFile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("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.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txt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");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if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(!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inFile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.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is_open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())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4EC9B0"/>
                </a:solidFill>
                <a:latin typeface="Consolas"/>
              </a:rPr>
              <a:t>string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name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idStr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ptsStr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possStr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while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getline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inFile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name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CE9178"/>
                </a:solidFill>
                <a:latin typeface="Consolas"/>
              </a:rPr>
              <a:t>','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getline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inFile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idStr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CE9178"/>
                </a:solidFill>
                <a:latin typeface="Consolas"/>
              </a:rPr>
              <a:t>','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getline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inFile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ptsStr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CE9178"/>
                </a:solidFill>
                <a:latin typeface="Consolas"/>
              </a:rPr>
              <a:t>','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getline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inFile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possStr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.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push_back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Student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name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stoi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idStr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stod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ptsStr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),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stod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possStr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)));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roster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783080"/>
            <a:ext cx="3977639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ifstream inFile("roster.txt") reopens last session's saved data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is_open() check means a first run with no file just starts empty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Rebuilding from raw points, not a stored average, keeps grades correct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Load on startup, save on exit — the last piece tying the whole menu loop together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C++ FUNDAMENTALS  ·  MODULE 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  <a:latin typeface="Calibri"/>
              </a:rPr>
              <a:t>IN-CLASS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2F2F2"/>
                </a:solidFill>
                <a:latin typeface="Consolas"/>
              </a:rPr>
              <a:t>Build the Full Menu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67665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Write a while loop that runs until the user picks Exit</a:t>
            </a:r>
          </a:p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Print a menu: Add Student, Sort, Search, Save, Load, Exit</a:t>
            </a:r>
          </a:p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Read the user's choice into an int with cin</a:t>
            </a:r>
          </a:p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Use a switch to call the matching function for each choice</a:t>
            </a:r>
          </a:p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Wire Sort to std::sort and Search to your own linear or binary search</a:t>
            </a:r>
          </a:p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Stub any option you haven't finished — the loop structure matters most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5240" y="1828800"/>
            <a:ext cx="3977639" cy="2743200"/>
          </a:xfrm>
          <a:prstGeom prst="rect">
            <a:avLst/>
          </a:prstGeom>
          <a:solidFill>
            <a:srgbClr val="2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201168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EC9B0"/>
                </a:solidFill>
                <a:latin typeface="Calibri"/>
              </a:rPr>
              <a:t>HINTS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423160"/>
            <a:ext cx="35661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sz="1350" b="0" i="0">
                <a:solidFill>
                  <a:srgbClr val="D8D8E8"/>
                </a:solidFill>
                <a:latin typeface="Calibri"/>
              </a:rPr>
              <a:t>Use bool running = true; and loop while (running)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sz="1350" b="0" i="0">
                <a:solidFill>
                  <a:srgbClr val="D8D8E8"/>
                </a:solidFill>
                <a:latin typeface="Calibri"/>
              </a:rPr>
              <a:t>Set running = false; in the Exit case to stop the loop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sz="1350" b="0" i="0">
                <a:solidFill>
                  <a:srgbClr val="D8D8E8"/>
                </a:solidFill>
                <a:latin typeface="Calibri"/>
              </a:rPr>
              <a:t>Call loadRoster() once before the loop starts, saveRoster() in Exit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sz="1350" b="0" i="0">
                <a:solidFill>
                  <a:srgbClr val="D8D8E8"/>
                </a:solidFill>
                <a:latin typeface="Calibri"/>
              </a:rPr>
              <a:t>Compile with g++ main.cpp -o tracker, then run ./tracker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8AA3"/>
                </a:solidFill>
                <a:latin typeface="Calibri"/>
              </a:rPr>
              <a:t>C++ FUNDAMENTALS  ·  MODULE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A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EC9B0"/>
                </a:solidFill>
                <a:latin typeface="Calibri"/>
              </a:rPr>
              <a:t>MODULE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2F2F2"/>
                </a:solidFill>
                <a:latin typeface="Consolas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98755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Sequential search checks everything; binary search on sorted data cuts the list in half each time</a:t>
            </a:r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std::sort replaces hand-written bubble and insertion sort with one line</a:t>
            </a:r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ifstream and ofstream let the roster survive after the program ends</a:t>
            </a:r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Pointers, templates, exceptions, recursion, and linked structures — Modules 9 through 14 — all led here</a:t>
            </a:r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You've built a complete, menu-driven, file-backed C++ application from scratch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solidFill>
            <a:srgbClr val="2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10515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F0A500"/>
                </a:solidFill>
                <a:latin typeface="Calibri"/>
              </a:rPr>
              <a:t>WHAT'S NEXT   </a:t>
            </a:r>
            <a:r>
              <a:rPr sz="1400" b="0" i="0">
                <a:solidFill>
                  <a:srgbClr val="F2F2F2"/>
                </a:solidFill>
                <a:latin typeface="Calibri"/>
              </a:rPr>
              <a:t>COURSE COMPLETE — You've gone from your first cout to a multi-class, pointer-aware, exception-safe, file-backed, sorted roster. Take what you built and keep extending it — map, smart pointers, or a GUI are natural next steps.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8AA3"/>
                </a:solidFill>
                <a:latin typeface="Calibri"/>
              </a:rPr>
              <a:t>C++ FUNDAMENTALS  ·  MODULE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A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