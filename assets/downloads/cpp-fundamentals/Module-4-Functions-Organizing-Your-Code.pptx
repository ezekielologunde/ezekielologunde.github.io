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EC9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463040"/>
            <a:ext cx="4114800" cy="4114800"/>
          </a:xfrm>
          <a:prstGeom prst="ellipse">
            <a:avLst/>
          </a:prstGeom>
          <a:solidFill>
            <a:srgbClr val="2A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607040" y="4389120"/>
            <a:ext cx="2743200" cy="2743200"/>
          </a:xfrm>
          <a:prstGeom prst="ellipse">
            <a:avLst/>
          </a:prstGeom>
          <a:solidFill>
            <a:srgbClr val="2A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4EC9B0"/>
                </a:solidFill>
                <a:latin typeface="Calibri"/>
              </a:rPr>
              <a:t>C++ FUNDAMENTALS  ·  STUDENT GRADE &amp; COURSE TRACKER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74519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F0A500"/>
                </a:solidFill>
                <a:latin typeface="Consolas"/>
              </a:rPr>
              <a:t>MODULE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377440"/>
            <a:ext cx="1024128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4600" b="1" i="0">
                <a:solidFill>
                  <a:srgbClr val="F2F2F2"/>
                </a:solidFill>
                <a:latin typeface="Consolas"/>
              </a:rPr>
              <a:t>Functions: Organizing Your Code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977639"/>
            <a:ext cx="9144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7C7DA"/>
                </a:solidFill>
                <a:latin typeface="Calibri"/>
              </a:rPr>
              <a:t>Breaking one big job into small, testable pieces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22960" y="6035040"/>
            <a:ext cx="2743200" cy="0"/>
          </a:xfrm>
          <a:prstGeom prst="line">
            <a:avLst/>
          </a:prstGeom>
          <a:ln w="25400">
            <a:solidFill>
              <a:srgbClr val="4EC9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822960" y="617220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8A8AA3"/>
                </a:solidFill>
                <a:latin typeface="Calibri"/>
              </a:rPr>
              <a:t>Community College C++ Programming — Intro Sequence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4EC9B0"/>
                </a:solidFill>
                <a:latin typeface="Calibri"/>
              </a:rPr>
              <a:t>IN THIS MODULE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F2F2F2"/>
                </a:solidFill>
                <a:latin typeface="Consolas"/>
              </a:rPr>
              <a:t>What We'll Cover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737360"/>
            <a:ext cx="332349" cy="332349"/>
          </a:xfrm>
          <a:prstGeom prst="roundRect">
            <a:avLst/>
          </a:prstGeom>
          <a:solidFill>
            <a:srgbClr val="4EC9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98" b="1" i="0">
                <a:solidFill>
                  <a:srgbClr val="1E1E2E"/>
                </a:solidFill>
                <a:latin typeface="Consolas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1795584"/>
            <a:ext cx="10241280" cy="4743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0">
                <a:solidFill>
                  <a:srgbClr val="F2F2F2"/>
                </a:solidFill>
                <a:latin typeface="Calibri"/>
              </a:rPr>
              <a:t>Why functions? The DRY principle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143000" y="2211704"/>
            <a:ext cx="9601200" cy="0"/>
          </a:xfrm>
          <a:prstGeom prst="line">
            <a:avLst/>
          </a:prstGeom>
          <a:ln w="12700">
            <a:solidFill>
              <a:srgbClr val="2A2A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548640" y="2303145"/>
            <a:ext cx="332349" cy="332349"/>
          </a:xfrm>
          <a:prstGeom prst="roundRect">
            <a:avLst/>
          </a:prstGeom>
          <a:solidFill>
            <a:srgbClr val="F0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98" b="1" i="0">
                <a:solidFill>
                  <a:srgbClr val="1E1E2E"/>
                </a:solidFill>
                <a:latin typeface="Consolas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2361369"/>
            <a:ext cx="10241280" cy="4743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0">
                <a:solidFill>
                  <a:srgbClr val="F2F2F2"/>
                </a:solidFill>
                <a:latin typeface="Calibri"/>
              </a:rPr>
              <a:t>Anatomy of a function: return type, name, parameters, body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143000" y="2777489"/>
            <a:ext cx="9601200" cy="0"/>
          </a:xfrm>
          <a:prstGeom prst="line">
            <a:avLst/>
          </a:prstGeom>
          <a:ln w="12700">
            <a:solidFill>
              <a:srgbClr val="2A2A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548640" y="2868929"/>
            <a:ext cx="332349" cy="332349"/>
          </a:xfrm>
          <a:prstGeom prst="roundRect">
            <a:avLst/>
          </a:prstGeom>
          <a:solidFill>
            <a:srgbClr val="4EC9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98" b="1" i="0">
                <a:solidFill>
                  <a:srgbClr val="1E1E2E"/>
                </a:solidFill>
                <a:latin typeface="Consolas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2927154"/>
            <a:ext cx="10241280" cy="4743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0">
                <a:solidFill>
                  <a:srgbClr val="F2F2F2"/>
                </a:solidFill>
                <a:latin typeface="Calibri"/>
              </a:rPr>
              <a:t>Declaring vs. defining — function prototypes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143000" y="3343274"/>
            <a:ext cx="9601200" cy="0"/>
          </a:xfrm>
          <a:prstGeom prst="line">
            <a:avLst/>
          </a:prstGeom>
          <a:ln w="12700">
            <a:solidFill>
              <a:srgbClr val="2A2A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48640" y="3434714"/>
            <a:ext cx="332349" cy="332349"/>
          </a:xfrm>
          <a:prstGeom prst="roundRect">
            <a:avLst/>
          </a:prstGeom>
          <a:solidFill>
            <a:srgbClr val="F0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98" b="1" i="0">
                <a:solidFill>
                  <a:srgbClr val="1E1E2E"/>
                </a:solidFill>
                <a:latin typeface="Consolas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3492939"/>
            <a:ext cx="10241280" cy="4743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0">
                <a:solidFill>
                  <a:srgbClr val="F2F2F2"/>
                </a:solidFill>
                <a:latin typeface="Calibri"/>
              </a:rPr>
              <a:t>Pass by value vs. pass by reference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143000" y="3909060"/>
            <a:ext cx="9601200" cy="0"/>
          </a:xfrm>
          <a:prstGeom prst="line">
            <a:avLst/>
          </a:prstGeom>
          <a:ln w="12700">
            <a:solidFill>
              <a:srgbClr val="2A2A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548640" y="4000500"/>
            <a:ext cx="332349" cy="332349"/>
          </a:xfrm>
          <a:prstGeom prst="roundRect">
            <a:avLst/>
          </a:prstGeom>
          <a:solidFill>
            <a:srgbClr val="4EC9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98" b="1" i="0">
                <a:solidFill>
                  <a:srgbClr val="1E1E2E"/>
                </a:solidFill>
                <a:latin typeface="Consolas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4058724"/>
            <a:ext cx="10241280" cy="4743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0">
                <a:solidFill>
                  <a:srgbClr val="F2F2F2"/>
                </a:solidFill>
                <a:latin typeface="Calibri"/>
              </a:rPr>
              <a:t>Return values and void functions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143000" y="4474845"/>
            <a:ext cx="9601200" cy="0"/>
          </a:xfrm>
          <a:prstGeom prst="line">
            <a:avLst/>
          </a:prstGeom>
          <a:ln w="12700">
            <a:solidFill>
              <a:srgbClr val="2A2A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548640" y="4566285"/>
            <a:ext cx="332349" cy="332349"/>
          </a:xfrm>
          <a:prstGeom prst="roundRect">
            <a:avLst/>
          </a:prstGeom>
          <a:solidFill>
            <a:srgbClr val="F0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98" b="1" i="0">
                <a:solidFill>
                  <a:srgbClr val="1E1E2E"/>
                </a:solidFill>
                <a:latin typeface="Consolas"/>
              </a:rPr>
              <a:t>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4624509"/>
            <a:ext cx="10241280" cy="4743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0">
                <a:solidFill>
                  <a:srgbClr val="F2F2F2"/>
                </a:solidFill>
                <a:latin typeface="Calibri"/>
              </a:rPr>
              <a:t>Function overloading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143000" y="5040630"/>
            <a:ext cx="9601200" cy="0"/>
          </a:xfrm>
          <a:prstGeom prst="line">
            <a:avLst/>
          </a:prstGeom>
          <a:ln w="12700">
            <a:solidFill>
              <a:srgbClr val="2A2A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548640" y="5132070"/>
            <a:ext cx="332349" cy="332349"/>
          </a:xfrm>
          <a:prstGeom prst="roundRect">
            <a:avLst/>
          </a:prstGeom>
          <a:solidFill>
            <a:srgbClr val="4EC9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98" b="1" i="0">
                <a:solidFill>
                  <a:srgbClr val="1E1E2E"/>
                </a:solidFill>
                <a:latin typeface="Consolas"/>
              </a:rPr>
              <a:t>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3000" y="5190294"/>
            <a:ext cx="10241280" cy="4743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0">
                <a:solidFill>
                  <a:srgbClr val="F2F2F2"/>
                </a:solidFill>
                <a:latin typeface="Calibri"/>
              </a:rPr>
              <a:t>Default parameters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143000" y="5606415"/>
            <a:ext cx="9601200" cy="0"/>
          </a:xfrm>
          <a:prstGeom prst="line">
            <a:avLst/>
          </a:prstGeom>
          <a:ln w="12700">
            <a:solidFill>
              <a:srgbClr val="2A2A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548640" y="5697855"/>
            <a:ext cx="332349" cy="332349"/>
          </a:xfrm>
          <a:prstGeom prst="roundRect">
            <a:avLst/>
          </a:prstGeom>
          <a:solidFill>
            <a:srgbClr val="F0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98" b="1" i="0">
                <a:solidFill>
                  <a:srgbClr val="1E1E2E"/>
                </a:solidFill>
                <a:latin typeface="Consolas"/>
              </a:rPr>
              <a:t>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3000" y="5756079"/>
            <a:ext cx="10241280" cy="4743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0">
                <a:solidFill>
                  <a:srgbClr val="F2F2F2"/>
                </a:solidFill>
                <a:latin typeface="Calibri"/>
              </a:rPr>
              <a:t>Variable scope: local vs. global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528816"/>
            <a:ext cx="6400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8A8AA3"/>
                </a:solidFill>
                <a:latin typeface="Calibri"/>
              </a:rPr>
              <a:t>C++ FUNDAMENTALS  ·  MODULE 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38560" y="652881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A8AA3"/>
                </a:solidFill>
                <a:latin typeface="Calibri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109960" y="384048"/>
            <a:ext cx="685800" cy="365760"/>
          </a:xfrm>
          <a:prstGeom prst="rect">
            <a:avLst/>
          </a:prstGeom>
          <a:solidFill>
            <a:srgbClr val="F7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 i="0">
                <a:solidFill>
                  <a:srgbClr val="0E7C7B"/>
                </a:solidFill>
                <a:latin typeface="Consolas"/>
              </a:rPr>
              <a:t>M4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E7C7B"/>
                </a:solidFill>
                <a:latin typeface="Calibri"/>
              </a:rPr>
              <a:t>WHY FUNCTIONS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1E1E2E"/>
                </a:solidFill>
                <a:latin typeface="Consolas"/>
              </a:rPr>
              <a:t>Stop Repeating Yourself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658368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sz="1700" b="0" i="0">
                <a:solidFill>
                  <a:srgbClr val="1E1E2E"/>
                </a:solidFill>
                <a:latin typeface="Calibri"/>
              </a:rPr>
              <a:t>DRY: Don't Repeat Yourself — write logic once, call it wherever you need it.</a:t>
            </a:r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sz="1700" b="0" i="0">
                <a:solidFill>
                  <a:srgbClr val="1E1E2E"/>
                </a:solidFill>
                <a:latin typeface="Calibri"/>
              </a:rPr>
              <a:t>Module 3's program crammed averaging AND grading into one big main().</a:t>
            </a:r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sz="1700" b="0" i="0">
                <a:solidFill>
                  <a:srgbClr val="1E1E2E"/>
                </a:solidFill>
                <a:latin typeface="Calibri"/>
              </a:rPr>
              <a:t>Functions split a big job into small, named pieces that each do one thing.</a:t>
            </a:r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sz="1700" b="0" i="0">
                <a:solidFill>
                  <a:srgbClr val="1E1E2E"/>
                </a:solidFill>
                <a:latin typeface="Calibri"/>
              </a:rPr>
              <a:t>main() shrinks down to a short summary of what the program does.</a:t>
            </a:r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sz="1700" b="0" i="0">
                <a:solidFill>
                  <a:srgbClr val="1E1E2E"/>
                </a:solidFill>
                <a:latin typeface="Calibri"/>
              </a:rPr>
              <a:t>Fix a bug in one function and every caller instantly benefits.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452360" y="1691640"/>
            <a:ext cx="3977639" cy="2926080"/>
          </a:xfrm>
          <a:prstGeom prst="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26679" y="1874519"/>
            <a:ext cx="3474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0A500"/>
                </a:solidFill>
                <a:latin typeface="Calibri"/>
              </a:rPr>
              <a:t>Mental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26679" y="2240280"/>
            <a:ext cx="347472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400" b="0" i="0">
                <a:solidFill>
                  <a:srgbClr val="F2F2F2"/>
                </a:solidFill>
                <a:latin typeface="Calibri"/>
              </a:rPr>
              <a:t>A function is a mini-program with its own name — call it, it does its job, and hands back a result (or nothing).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528816"/>
            <a:ext cx="6400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9CA3AF"/>
                </a:solidFill>
                <a:latin typeface="Calibri"/>
              </a:rPr>
              <a:t>C++ FUNDAMENTALS  ·  MODULE 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52881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9CA3AF"/>
                </a:solidFill>
                <a:latin typeface="Calibri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109960" y="384048"/>
            <a:ext cx="685800" cy="365760"/>
          </a:xfrm>
          <a:prstGeom prst="rect">
            <a:avLst/>
          </a:prstGeom>
          <a:solidFill>
            <a:srgbClr val="F7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 i="0">
                <a:solidFill>
                  <a:srgbClr val="0E7C7B"/>
                </a:solidFill>
                <a:latin typeface="Consolas"/>
              </a:rPr>
              <a:t>M4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E7C7B"/>
                </a:solidFill>
                <a:latin typeface="Calibri"/>
              </a:rPr>
              <a:t>THE BUILDING BLOCK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1E1E2E"/>
                </a:solidFill>
                <a:latin typeface="Consolas"/>
              </a:rPr>
              <a:t>Anatomy of a Function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45920"/>
            <a:ext cx="6858000" cy="2553919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645920"/>
            <a:ext cx="6858000" cy="292608"/>
          </a:xfrm>
          <a:prstGeom prst="rect">
            <a:avLst/>
          </a:prstGeom>
          <a:solidFill>
            <a:srgbClr val="2D2D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13232" y="1737360"/>
            <a:ext cx="109728" cy="109728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32688" y="1737360"/>
            <a:ext cx="109728" cy="109728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52144" y="1737360"/>
            <a:ext cx="109728" cy="109728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1645920"/>
            <a:ext cx="57607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9B9BA3"/>
                </a:solidFill>
                <a:latin typeface="Consolas"/>
              </a:rPr>
              <a:t>main.cpp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2029968"/>
            <a:ext cx="6309360" cy="23070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ts val="1860"/>
              </a:lnSpc>
            </a:pPr>
            <a:r>
              <a:rPr sz="1400" b="0" i="0">
                <a:solidFill>
                  <a:srgbClr val="569CD6"/>
                </a:solidFill>
                <a:latin typeface="Consolas"/>
              </a:rPr>
              <a:t>double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400" b="0" i="0">
                <a:solidFill>
                  <a:srgbClr val="DCDCAA"/>
                </a:solidFill>
                <a:latin typeface="Consolas"/>
              </a:rPr>
              <a:t>square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(</a:t>
            </a:r>
            <a:r>
              <a:rPr sz="1400" b="0" i="0">
                <a:solidFill>
                  <a:srgbClr val="569CD6"/>
                </a:solidFill>
                <a:latin typeface="Consolas"/>
              </a:rPr>
              <a:t>double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x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)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{</a:t>
            </a:r>
          </a:p>
          <a:p>
            <a:pPr>
              <a:lnSpc>
                <a:spcPts val="1860"/>
              </a:lnSpc>
            </a:pPr>
            <a:r>
              <a:rPr sz="1400" b="0" i="0">
                <a:solidFill>
                  <a:srgbClr val="D4D4D4"/>
                </a:solidFill>
                <a:latin typeface="Consolas"/>
              </a:rPr>
              <a:t>    </a:t>
            </a:r>
            <a:r>
              <a:rPr sz="1400" b="0" i="0">
                <a:solidFill>
                  <a:srgbClr val="569CD6"/>
                </a:solidFill>
                <a:latin typeface="Consolas"/>
              </a:rPr>
              <a:t>return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x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*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x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;</a:t>
            </a:r>
          </a:p>
          <a:p>
            <a:pPr>
              <a:lnSpc>
                <a:spcPts val="1860"/>
              </a:lnSpc>
            </a:pPr>
            <a:r>
              <a:rPr sz="1400" b="0" i="0">
                <a:solidFill>
                  <a:srgbClr val="D4D4D4"/>
                </a:solidFill>
                <a:latin typeface="Consolas"/>
              </a:rPr>
              <a:t>}</a:t>
            </a:r>
          </a:p>
          <a:p>
            <a:pPr>
              <a:lnSpc>
                <a:spcPts val="1860"/>
              </a:lnSpc>
            </a:pPr>
            <a:r>
              <a:rPr sz="1400" b="0" i="0">
                <a:solidFill>
                  <a:srgbClr val="D4D4D4"/>
                </a:solidFill>
                <a:latin typeface="Consolas"/>
              </a:rPr>
              <a:t> </a:t>
            </a:r>
          </a:p>
          <a:p>
            <a:pPr>
              <a:lnSpc>
                <a:spcPts val="1860"/>
              </a:lnSpc>
            </a:pPr>
            <a:r>
              <a:rPr sz="1400" b="0" i="0">
                <a:solidFill>
                  <a:srgbClr val="569CD6"/>
                </a:solidFill>
                <a:latin typeface="Consolas"/>
              </a:rPr>
              <a:t>int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400" b="0" i="0">
                <a:solidFill>
                  <a:srgbClr val="DCDCAA"/>
                </a:solidFill>
                <a:latin typeface="Consolas"/>
              </a:rPr>
              <a:t>main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()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{</a:t>
            </a:r>
          </a:p>
          <a:p>
            <a:pPr>
              <a:lnSpc>
                <a:spcPts val="1860"/>
              </a:lnSpc>
            </a:pPr>
            <a:r>
              <a:rPr sz="1400" b="0" i="0">
                <a:solidFill>
                  <a:srgbClr val="D4D4D4"/>
                </a:solidFill>
                <a:latin typeface="Consolas"/>
              </a:rPr>
              <a:t>    </a:t>
            </a:r>
            <a:r>
              <a:rPr sz="1400" b="0" i="0">
                <a:solidFill>
                  <a:srgbClr val="569CD6"/>
                </a:solidFill>
                <a:latin typeface="Consolas"/>
              </a:rPr>
              <a:t>double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result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=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400" b="0" i="0">
                <a:solidFill>
                  <a:srgbClr val="DCDCAA"/>
                </a:solidFill>
                <a:latin typeface="Consolas"/>
              </a:rPr>
              <a:t>square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(</a:t>
            </a:r>
            <a:r>
              <a:rPr sz="1400" b="0" i="0">
                <a:solidFill>
                  <a:srgbClr val="B5CEA8"/>
                </a:solidFill>
                <a:latin typeface="Consolas"/>
              </a:rPr>
              <a:t>5.0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);</a:t>
            </a:r>
          </a:p>
          <a:p>
            <a:pPr>
              <a:lnSpc>
                <a:spcPts val="1860"/>
              </a:lnSpc>
            </a:pPr>
            <a:r>
              <a:rPr sz="1400" b="0" i="0">
                <a:solidFill>
                  <a:srgbClr val="D4D4D4"/>
                </a:solidFill>
                <a:latin typeface="Consolas"/>
              </a:rPr>
              <a:t>    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cout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&lt;&lt;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result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&lt;&lt;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endl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;</a:t>
            </a:r>
          </a:p>
          <a:p>
            <a:pPr>
              <a:lnSpc>
                <a:spcPts val="1860"/>
              </a:lnSpc>
            </a:pPr>
            <a:r>
              <a:rPr sz="1400" b="0" i="0">
                <a:solidFill>
                  <a:srgbClr val="D4D4D4"/>
                </a:solidFill>
                <a:latin typeface="Consolas"/>
              </a:rPr>
              <a:t>    </a:t>
            </a:r>
            <a:r>
              <a:rPr sz="1400" b="0" i="0">
                <a:solidFill>
                  <a:srgbClr val="569CD6"/>
                </a:solidFill>
                <a:latin typeface="Consolas"/>
              </a:rPr>
              <a:t>return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400" b="0" i="0">
                <a:solidFill>
                  <a:srgbClr val="B5CEA8"/>
                </a:solidFill>
                <a:latin typeface="Consolas"/>
              </a:rPr>
              <a:t>0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;</a:t>
            </a:r>
          </a:p>
          <a:p>
            <a:pPr>
              <a:lnSpc>
                <a:spcPts val="1860"/>
              </a:lnSpc>
            </a:pPr>
            <a:r>
              <a:rPr sz="1400" b="0" i="0">
                <a:solidFill>
                  <a:srgbClr val="D4D4D4"/>
                </a:solidFill>
                <a:latin typeface="Consolas"/>
              </a:rPr>
              <a:t>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35240" y="1645920"/>
            <a:ext cx="3977639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sz="1400" b="0" i="0">
                <a:solidFill>
                  <a:srgbClr val="1E1E2E"/>
                </a:solidFill>
                <a:latin typeface="Calibri"/>
              </a:rPr>
              <a:t>double is the RETURN TYPE — the kind of value the function hands back.</a:t>
            </a:r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sz="1400" b="0" i="0">
                <a:solidFill>
                  <a:srgbClr val="1E1E2E"/>
                </a:solidFill>
                <a:latin typeface="Calibri"/>
              </a:rPr>
              <a:t>square is the FUNCTION NAME you use to call it later.</a:t>
            </a:r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sz="1400" b="0" i="0">
                <a:solidFill>
                  <a:srgbClr val="1E1E2E"/>
                </a:solidFill>
                <a:latin typeface="Calibri"/>
              </a:rPr>
              <a:t>(double x) is the PARAMETER LIST — inputs the function needs.</a:t>
            </a:r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sz="1400" b="0" i="0">
                <a:solidFill>
                  <a:srgbClr val="1E1E2E"/>
                </a:solidFill>
                <a:latin typeface="Calibri"/>
              </a:rPr>
              <a:t>{ ... } is the BODY; return x * x; sends a value back and exits.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4382719"/>
            <a:ext cx="6858000" cy="6583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73152" bIns="73152" wrap="square"/>
          <a:lstStyle/>
          <a:p>
            <a:pPr algn="ctr"/>
            <a:r>
              <a:rPr sz="1000" b="1" i="0">
                <a:solidFill>
                  <a:srgbClr val="0E7C7B"/>
                </a:solidFill>
                <a:latin typeface="Calibri"/>
              </a:rPr>
              <a:t>OUTPUT</a:t>
            </a:r>
          </a:p>
          <a:p>
            <a:r>
              <a:rPr sz="1200" b="0" i="0">
                <a:solidFill>
                  <a:srgbClr val="1E1E2E"/>
                </a:solidFill>
                <a:latin typeface="Consolas"/>
              </a:rPr>
              <a:t>25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528816"/>
            <a:ext cx="6400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9CA3AF"/>
                </a:solidFill>
                <a:latin typeface="Calibri"/>
              </a:rPr>
              <a:t>C++ FUNDAMENTALS  ·  MODULE 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52881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9CA3AF"/>
                </a:solidFill>
                <a:latin typeface="Calibri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109960" y="384048"/>
            <a:ext cx="685800" cy="365760"/>
          </a:xfrm>
          <a:prstGeom prst="rect">
            <a:avLst/>
          </a:prstGeom>
          <a:solidFill>
            <a:srgbClr val="F7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 i="0">
                <a:solidFill>
                  <a:srgbClr val="0E7C7B"/>
                </a:solidFill>
                <a:latin typeface="Consolas"/>
              </a:rPr>
              <a:t>M4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E7C7B"/>
                </a:solidFill>
                <a:latin typeface="Calibri"/>
              </a:rPr>
              <a:t>ORDER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1E1E2E"/>
                </a:solidFill>
                <a:latin typeface="Consolas"/>
              </a:rPr>
              <a:t>Declaring vs. Defining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658368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sz="1700" b="0" i="0">
                <a:solidFill>
                  <a:srgbClr val="1E1E2E"/>
                </a:solidFill>
                <a:latin typeface="Calibri"/>
              </a:rPr>
              <a:t>C++ reads top to bottom — a function must be known before main() calls it.</a:t>
            </a:r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sz="1700" b="0" i="0">
                <a:solidFill>
                  <a:srgbClr val="1E1E2E"/>
                </a:solidFill>
                <a:latin typeface="Calibri"/>
              </a:rPr>
              <a:t>Option 1: define the whole function above main(), body and all.</a:t>
            </a:r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sz="1700" b="0" i="0">
                <a:solidFill>
                  <a:srgbClr val="1E1E2E"/>
                </a:solidFill>
                <a:latin typeface="Calibri"/>
              </a:rPr>
              <a:t>Option 2: declare it above main() with a prototype, define it below.</a:t>
            </a:r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sz="1700" b="0" i="0">
                <a:solidFill>
                  <a:srgbClr val="1E1E2E"/>
                </a:solidFill>
                <a:latin typeface="Calibri"/>
              </a:rPr>
              <a:t>A prototype is just the signature ending in a semicolon, no body.</a:t>
            </a:r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sz="1700" b="0" i="0">
                <a:solidFill>
                  <a:srgbClr val="1E1E2E"/>
                </a:solidFill>
                <a:latin typeface="Calibri"/>
              </a:rPr>
              <a:t>Prototypes keep main() near the top of the file, easy to find.</a:t>
            </a:r>
          </a:p>
        </p:txBody>
      </p:sp>
      <p:sp>
        <p:nvSpPr>
          <p:cNvPr id="6" name="Rectangle 5"/>
          <p:cNvSpPr/>
          <p:nvPr/>
        </p:nvSpPr>
        <p:spPr>
          <a:xfrm>
            <a:off x="7452360" y="1691640"/>
            <a:ext cx="3977639" cy="2926080"/>
          </a:xfrm>
          <a:prstGeom prst="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26679" y="1874519"/>
            <a:ext cx="3474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0A500"/>
                </a:solidFill>
                <a:latin typeface="Calibri"/>
              </a:rPr>
              <a:t>Function Prototype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26679" y="2240280"/>
            <a:ext cx="347472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400" b="0" i="0">
                <a:solidFill>
                  <a:srgbClr val="F2F2F2"/>
                </a:solidFill>
                <a:latin typeface="Calibri"/>
              </a:rPr>
              <a:t>double square(double x);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528816"/>
            <a:ext cx="6400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9CA3AF"/>
                </a:solidFill>
                <a:latin typeface="Calibri"/>
              </a:rPr>
              <a:t>C++ FUNDAMENTALS  ·  MODULE 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52881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9CA3AF"/>
                </a:solidFill>
                <a:latin typeface="Calibri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109960" y="384048"/>
            <a:ext cx="685800" cy="365760"/>
          </a:xfrm>
          <a:prstGeom prst="rect">
            <a:avLst/>
          </a:prstGeom>
          <a:solidFill>
            <a:srgbClr val="F7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 i="0">
                <a:solidFill>
                  <a:srgbClr val="0E7C7B"/>
                </a:solidFill>
                <a:latin typeface="Consolas"/>
              </a:rPr>
              <a:t>M4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E7C7B"/>
                </a:solidFill>
                <a:latin typeface="Calibri"/>
              </a:rPr>
              <a:t>PARAMETERS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1E1E2E"/>
                </a:solidFill>
                <a:latin typeface="Consolas"/>
              </a:rPr>
              <a:t>Pass by Value vs. by Reference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45920"/>
            <a:ext cx="6858000" cy="3005632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645920"/>
            <a:ext cx="6858000" cy="292608"/>
          </a:xfrm>
          <a:prstGeom prst="rect">
            <a:avLst/>
          </a:prstGeom>
          <a:solidFill>
            <a:srgbClr val="2D2D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13232" y="1737360"/>
            <a:ext cx="109728" cy="109728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32688" y="1737360"/>
            <a:ext cx="109728" cy="109728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52144" y="1737360"/>
            <a:ext cx="109728" cy="109728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1645920"/>
            <a:ext cx="57607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9B9BA3"/>
                </a:solidFill>
                <a:latin typeface="Consolas"/>
              </a:rPr>
              <a:t>main.cpp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2029968"/>
            <a:ext cx="6309360" cy="2758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ts val="1860"/>
              </a:lnSpc>
            </a:pPr>
            <a:r>
              <a:rPr sz="1400" b="0" i="0">
                <a:solidFill>
                  <a:srgbClr val="569CD6"/>
                </a:solidFill>
                <a:latin typeface="Consolas"/>
              </a:rPr>
              <a:t>void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400" b="0" i="0">
                <a:solidFill>
                  <a:srgbClr val="DCDCAA"/>
                </a:solidFill>
                <a:latin typeface="Consolas"/>
              </a:rPr>
              <a:t>doubleIt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(</a:t>
            </a:r>
            <a:r>
              <a:rPr sz="1400" b="0" i="0">
                <a:solidFill>
                  <a:srgbClr val="569CD6"/>
                </a:solidFill>
                <a:latin typeface="Consolas"/>
              </a:rPr>
              <a:t>int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n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)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{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n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=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n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*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400" b="0" i="0">
                <a:solidFill>
                  <a:srgbClr val="B5CEA8"/>
                </a:solidFill>
                <a:latin typeface="Consolas"/>
              </a:rPr>
              <a:t>2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;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}</a:t>
            </a:r>
          </a:p>
          <a:p>
            <a:pPr>
              <a:lnSpc>
                <a:spcPts val="1860"/>
              </a:lnSpc>
            </a:pPr>
            <a:r>
              <a:rPr sz="1400" b="0" i="0">
                <a:solidFill>
                  <a:srgbClr val="569CD6"/>
                </a:solidFill>
                <a:latin typeface="Consolas"/>
              </a:rPr>
              <a:t>void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400" b="0" i="0">
                <a:solidFill>
                  <a:srgbClr val="DCDCAA"/>
                </a:solidFill>
                <a:latin typeface="Consolas"/>
              </a:rPr>
              <a:t>addBonus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(</a:t>
            </a:r>
            <a:r>
              <a:rPr sz="1400" b="0" i="0">
                <a:solidFill>
                  <a:srgbClr val="569CD6"/>
                </a:solidFill>
                <a:latin typeface="Consolas"/>
              </a:rPr>
              <a:t>double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&amp;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score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)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{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score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+=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400" b="0" i="0">
                <a:solidFill>
                  <a:srgbClr val="B5CEA8"/>
                </a:solidFill>
                <a:latin typeface="Consolas"/>
              </a:rPr>
              <a:t>5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;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}</a:t>
            </a:r>
          </a:p>
          <a:p>
            <a:pPr>
              <a:lnSpc>
                <a:spcPts val="1860"/>
              </a:lnSpc>
            </a:pPr>
            <a:r>
              <a:rPr sz="1400" b="0" i="0">
                <a:solidFill>
                  <a:srgbClr val="D4D4D4"/>
                </a:solidFill>
                <a:latin typeface="Consolas"/>
              </a:rPr>
              <a:t> </a:t>
            </a:r>
          </a:p>
          <a:p>
            <a:pPr>
              <a:lnSpc>
                <a:spcPts val="1860"/>
              </a:lnSpc>
            </a:pPr>
            <a:r>
              <a:rPr sz="1400" b="0" i="0">
                <a:solidFill>
                  <a:srgbClr val="569CD6"/>
                </a:solidFill>
                <a:latin typeface="Consolas"/>
              </a:rPr>
              <a:t>int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400" b="0" i="0">
                <a:solidFill>
                  <a:srgbClr val="DCDCAA"/>
                </a:solidFill>
                <a:latin typeface="Consolas"/>
              </a:rPr>
              <a:t>main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()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{</a:t>
            </a:r>
          </a:p>
          <a:p>
            <a:pPr>
              <a:lnSpc>
                <a:spcPts val="1860"/>
              </a:lnSpc>
            </a:pPr>
            <a:r>
              <a:rPr sz="1400" b="0" i="0">
                <a:solidFill>
                  <a:srgbClr val="D4D4D4"/>
                </a:solidFill>
                <a:latin typeface="Consolas"/>
              </a:rPr>
              <a:t>    </a:t>
            </a:r>
            <a:r>
              <a:rPr sz="1400" b="0" i="0">
                <a:solidFill>
                  <a:srgbClr val="569CD6"/>
                </a:solidFill>
                <a:latin typeface="Consolas"/>
              </a:rPr>
              <a:t>int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x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=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400" b="0" i="0">
                <a:solidFill>
                  <a:srgbClr val="B5CEA8"/>
                </a:solidFill>
                <a:latin typeface="Consolas"/>
              </a:rPr>
              <a:t>10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;</a:t>
            </a:r>
          </a:p>
          <a:p>
            <a:pPr>
              <a:lnSpc>
                <a:spcPts val="1860"/>
              </a:lnSpc>
            </a:pPr>
            <a:r>
              <a:rPr sz="1400" b="0" i="0">
                <a:solidFill>
                  <a:srgbClr val="D4D4D4"/>
                </a:solidFill>
                <a:latin typeface="Consolas"/>
              </a:rPr>
              <a:t>    </a:t>
            </a:r>
            <a:r>
              <a:rPr sz="1400" b="0" i="0">
                <a:solidFill>
                  <a:srgbClr val="569CD6"/>
                </a:solidFill>
                <a:latin typeface="Consolas"/>
              </a:rPr>
              <a:t>double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grade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=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400" b="0" i="0">
                <a:solidFill>
                  <a:srgbClr val="B5CEA8"/>
                </a:solidFill>
                <a:latin typeface="Consolas"/>
              </a:rPr>
              <a:t>82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;</a:t>
            </a:r>
          </a:p>
          <a:p>
            <a:pPr>
              <a:lnSpc>
                <a:spcPts val="1860"/>
              </a:lnSpc>
            </a:pPr>
            <a:r>
              <a:rPr sz="1400" b="0" i="0">
                <a:solidFill>
                  <a:srgbClr val="D4D4D4"/>
                </a:solidFill>
                <a:latin typeface="Consolas"/>
              </a:rPr>
              <a:t>    </a:t>
            </a:r>
            <a:r>
              <a:rPr sz="1400" b="0" i="0">
                <a:solidFill>
                  <a:srgbClr val="DCDCAA"/>
                </a:solidFill>
                <a:latin typeface="Consolas"/>
              </a:rPr>
              <a:t>doubleIt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(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x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);</a:t>
            </a:r>
          </a:p>
          <a:p>
            <a:pPr>
              <a:lnSpc>
                <a:spcPts val="1860"/>
              </a:lnSpc>
            </a:pPr>
            <a:r>
              <a:rPr sz="1400" b="0" i="0">
                <a:solidFill>
                  <a:srgbClr val="D4D4D4"/>
                </a:solidFill>
                <a:latin typeface="Consolas"/>
              </a:rPr>
              <a:t>    </a:t>
            </a:r>
            <a:r>
              <a:rPr sz="1400" b="0" i="0">
                <a:solidFill>
                  <a:srgbClr val="DCDCAA"/>
                </a:solidFill>
                <a:latin typeface="Consolas"/>
              </a:rPr>
              <a:t>addBonus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(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grade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);</a:t>
            </a:r>
          </a:p>
          <a:p>
            <a:pPr>
              <a:lnSpc>
                <a:spcPts val="1860"/>
              </a:lnSpc>
            </a:pPr>
            <a:r>
              <a:rPr sz="1400" b="0" i="0">
                <a:solidFill>
                  <a:srgbClr val="D4D4D4"/>
                </a:solidFill>
                <a:latin typeface="Consolas"/>
              </a:rPr>
              <a:t>    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cout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&lt;&lt;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x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&lt;&lt;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400" b="0" i="0">
                <a:solidFill>
                  <a:srgbClr val="CE9178"/>
                </a:solidFill>
                <a:latin typeface="Consolas"/>
              </a:rPr>
              <a:t>" "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&lt;&lt;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grade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;</a:t>
            </a:r>
          </a:p>
          <a:p>
            <a:pPr>
              <a:lnSpc>
                <a:spcPts val="1860"/>
              </a:lnSpc>
            </a:pPr>
            <a:r>
              <a:rPr sz="1400" b="0" i="0">
                <a:solidFill>
                  <a:srgbClr val="D4D4D4"/>
                </a:solidFill>
                <a:latin typeface="Consolas"/>
              </a:rPr>
              <a:t>    </a:t>
            </a:r>
            <a:r>
              <a:rPr sz="1400" b="0" i="0">
                <a:solidFill>
                  <a:srgbClr val="569CD6"/>
                </a:solidFill>
                <a:latin typeface="Consolas"/>
              </a:rPr>
              <a:t>return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400" b="0" i="0">
                <a:solidFill>
                  <a:srgbClr val="B5CEA8"/>
                </a:solidFill>
                <a:latin typeface="Consolas"/>
              </a:rPr>
              <a:t>0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;</a:t>
            </a:r>
          </a:p>
          <a:p>
            <a:pPr>
              <a:lnSpc>
                <a:spcPts val="1860"/>
              </a:lnSpc>
            </a:pPr>
            <a:r>
              <a:rPr sz="1400" b="0" i="0">
                <a:solidFill>
                  <a:srgbClr val="D4D4D4"/>
                </a:solidFill>
                <a:latin typeface="Consolas"/>
              </a:rPr>
              <a:t>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35240" y="1645920"/>
            <a:ext cx="3977639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sz="1400" b="0" i="0">
                <a:solidFill>
                  <a:srgbClr val="1E1E2E"/>
                </a:solidFill>
                <a:latin typeface="Calibri"/>
              </a:rPr>
              <a:t>doubleIt(int n) takes n BY VALUE — n is a private copy, so x stays 10.</a:t>
            </a:r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sz="1400" b="0" i="0">
                <a:solidFill>
                  <a:srgbClr val="1E1E2E"/>
                </a:solidFill>
                <a:latin typeface="Calibri"/>
              </a:rPr>
              <a:t>addBonus(double &amp;score) takes score BY REFERENCE — the &amp; aliases grade.</a:t>
            </a:r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sz="1400" b="0" i="0">
                <a:solidFill>
                  <a:srgbClr val="1E1E2E"/>
                </a:solidFill>
                <a:latin typeface="Calibri"/>
              </a:rPr>
              <a:t>Changes to a reference parameter change the caller's variable directly.</a:t>
            </a:r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sz="1400" b="0" i="0">
                <a:solidFill>
                  <a:srgbClr val="1E1E2E"/>
                </a:solidFill>
                <a:latin typeface="Calibri"/>
              </a:rPr>
              <a:t>Default to value for read-only inputs; use reference to modify or avoid copies.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4834432"/>
            <a:ext cx="6858000" cy="6583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73152" bIns="73152" wrap="square"/>
          <a:lstStyle/>
          <a:p>
            <a:pPr algn="ctr"/>
            <a:r>
              <a:rPr sz="1000" b="1" i="0">
                <a:solidFill>
                  <a:srgbClr val="0E7C7B"/>
                </a:solidFill>
                <a:latin typeface="Calibri"/>
              </a:rPr>
              <a:t>OUTPUT</a:t>
            </a:r>
          </a:p>
          <a:p>
            <a:r>
              <a:rPr sz="1200" b="0" i="0">
                <a:solidFill>
                  <a:srgbClr val="1E1E2E"/>
                </a:solidFill>
                <a:latin typeface="Consolas"/>
              </a:rPr>
              <a:t>10 87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528816"/>
            <a:ext cx="6400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9CA3AF"/>
                </a:solidFill>
                <a:latin typeface="Calibri"/>
              </a:rPr>
              <a:t>C++ FUNDAMENTALS  ·  MODULE 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52881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9CA3AF"/>
                </a:solidFill>
                <a:latin typeface="Calibri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109960" y="384048"/>
            <a:ext cx="685800" cy="365760"/>
          </a:xfrm>
          <a:prstGeom prst="rect">
            <a:avLst/>
          </a:prstGeom>
          <a:solidFill>
            <a:srgbClr val="F7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 i="0">
                <a:solidFill>
                  <a:srgbClr val="0E7C7B"/>
                </a:solidFill>
                <a:latin typeface="Consolas"/>
              </a:rPr>
              <a:t>M4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E7C7B"/>
                </a:solidFill>
                <a:latin typeface="Calibri"/>
              </a:rPr>
              <a:t>SENDING A RESULT BACK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1E1E2E"/>
                </a:solidFill>
                <a:latin typeface="Consolas"/>
              </a:rPr>
              <a:t>Return Values and void Functions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658368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sz="1700" b="0" i="0">
                <a:solidFill>
                  <a:srgbClr val="1E1E2E"/>
                </a:solidFill>
                <a:latin typeface="Calibri"/>
              </a:rPr>
              <a:t>return value; sends a value back to the caller and ends the function now.</a:t>
            </a:r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sz="1700" b="0" i="0">
                <a:solidFill>
                  <a:srgbClr val="1E1E2E"/>
                </a:solidFill>
                <a:latin typeface="Calibri"/>
              </a:rPr>
              <a:t>Code written after a return statement in that path never runs.</a:t>
            </a:r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sz="1700" b="0" i="0">
                <a:solidFill>
                  <a:srgbClr val="1E1E2E"/>
                </a:solidFill>
                <a:latin typeface="Calibri"/>
              </a:rPr>
              <a:t>Every possible path through the function must reach a return statement.</a:t>
            </a:r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sz="1700" b="0" i="0">
                <a:solidFill>
                  <a:srgbClr val="1E1E2E"/>
                </a:solidFill>
                <a:latin typeface="Calibri"/>
              </a:rPr>
              <a:t>void means no return value — use it for actions like printing, not results.</a:t>
            </a:r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sz="1700" b="0" i="0">
                <a:solidFill>
                  <a:srgbClr val="1E1E2E"/>
                </a:solidFill>
                <a:latin typeface="Calibri"/>
              </a:rPr>
              <a:t>A void function can still write return; alone to exit early.</a:t>
            </a:r>
          </a:p>
        </p:txBody>
      </p:sp>
      <p:sp>
        <p:nvSpPr>
          <p:cNvPr id="6" name="Rectangle 5"/>
          <p:cNvSpPr/>
          <p:nvPr/>
        </p:nvSpPr>
        <p:spPr>
          <a:xfrm>
            <a:off x="7452360" y="1691640"/>
            <a:ext cx="3977639" cy="2926080"/>
          </a:xfrm>
          <a:prstGeom prst="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26679" y="1874519"/>
            <a:ext cx="3474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0A500"/>
                </a:solidFill>
                <a:latin typeface="Calibri"/>
              </a:rPr>
              <a:t>Watch Out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26679" y="2240280"/>
            <a:ext cx="347472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400" b="0" i="0">
                <a:solidFill>
                  <a:srgbClr val="F2F2F2"/>
                </a:solidFill>
                <a:latin typeface="Calibri"/>
              </a:rPr>
              <a:t>A function can only return ONE value. If you need more than one result back, switch to void with reference parameters instead.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528816"/>
            <a:ext cx="6400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9CA3AF"/>
                </a:solidFill>
                <a:latin typeface="Calibri"/>
              </a:rPr>
              <a:t>C++ FUNDAMENTALS  ·  MODULE 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52881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9CA3AF"/>
                </a:solidFill>
                <a:latin typeface="Calibri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109960" y="384048"/>
            <a:ext cx="685800" cy="365760"/>
          </a:xfrm>
          <a:prstGeom prst="rect">
            <a:avLst/>
          </a:prstGeom>
          <a:solidFill>
            <a:srgbClr val="F7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 i="0">
                <a:solidFill>
                  <a:srgbClr val="0E7C7B"/>
                </a:solidFill>
                <a:latin typeface="Consolas"/>
              </a:rPr>
              <a:t>M4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E7C7B"/>
                </a:solidFill>
                <a:latin typeface="Calibri"/>
              </a:rPr>
              <a:t>SAME NAME, DIFFERENT JOB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1E1E2E"/>
                </a:solidFill>
                <a:latin typeface="Consolas"/>
              </a:rPr>
              <a:t>Function Overloading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45920"/>
            <a:ext cx="6858000" cy="3005632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645920"/>
            <a:ext cx="6858000" cy="292608"/>
          </a:xfrm>
          <a:prstGeom prst="rect">
            <a:avLst/>
          </a:prstGeom>
          <a:solidFill>
            <a:srgbClr val="2D2D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13232" y="1737360"/>
            <a:ext cx="109728" cy="109728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32688" y="1737360"/>
            <a:ext cx="109728" cy="109728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52144" y="1737360"/>
            <a:ext cx="109728" cy="109728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1645920"/>
            <a:ext cx="57607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9B9BA3"/>
                </a:solidFill>
                <a:latin typeface="Consolas"/>
              </a:rPr>
              <a:t>main.cpp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2029968"/>
            <a:ext cx="6309360" cy="2758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ts val="1860"/>
              </a:lnSpc>
            </a:pPr>
            <a:r>
              <a:rPr sz="1400" b="0" i="0">
                <a:solidFill>
                  <a:srgbClr val="569CD6"/>
                </a:solidFill>
                <a:latin typeface="Consolas"/>
              </a:rPr>
              <a:t>double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400" b="0" i="0">
                <a:solidFill>
                  <a:srgbClr val="DCDCAA"/>
                </a:solidFill>
                <a:latin typeface="Consolas"/>
              </a:rPr>
              <a:t>calculateAverage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(</a:t>
            </a:r>
          </a:p>
          <a:p>
            <a:pPr>
              <a:lnSpc>
                <a:spcPts val="1860"/>
              </a:lnSpc>
            </a:pPr>
            <a:r>
              <a:rPr sz="1400" b="0" i="0">
                <a:solidFill>
                  <a:srgbClr val="D4D4D4"/>
                </a:solidFill>
                <a:latin typeface="Consolas"/>
              </a:rPr>
              <a:t>    </a:t>
            </a:r>
            <a:r>
              <a:rPr sz="1400" b="0" i="0">
                <a:solidFill>
                  <a:srgbClr val="569CD6"/>
                </a:solidFill>
                <a:latin typeface="Consolas"/>
              </a:rPr>
              <a:t>double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grades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[],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400" b="0" i="0">
                <a:solidFill>
                  <a:srgbClr val="569CD6"/>
                </a:solidFill>
                <a:latin typeface="Consolas"/>
              </a:rPr>
              <a:t>int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size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)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{</a:t>
            </a:r>
          </a:p>
          <a:p>
            <a:pPr>
              <a:lnSpc>
                <a:spcPts val="1860"/>
              </a:lnSpc>
            </a:pPr>
            <a:r>
              <a:rPr sz="1400" b="0" i="0">
                <a:solidFill>
                  <a:srgbClr val="D4D4D4"/>
                </a:solidFill>
                <a:latin typeface="Consolas"/>
              </a:rPr>
              <a:t>    </a:t>
            </a:r>
            <a:r>
              <a:rPr sz="1400" b="0" i="0">
                <a:solidFill>
                  <a:srgbClr val="569CD6"/>
                </a:solidFill>
                <a:latin typeface="Consolas"/>
              </a:rPr>
              <a:t>double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total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=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400" b="0" i="0">
                <a:solidFill>
                  <a:srgbClr val="B5CEA8"/>
                </a:solidFill>
                <a:latin typeface="Consolas"/>
              </a:rPr>
              <a:t>0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;</a:t>
            </a:r>
          </a:p>
          <a:p>
            <a:pPr>
              <a:lnSpc>
                <a:spcPts val="1860"/>
              </a:lnSpc>
            </a:pPr>
            <a:r>
              <a:rPr sz="1400" b="0" i="0">
                <a:solidFill>
                  <a:srgbClr val="D4D4D4"/>
                </a:solidFill>
                <a:latin typeface="Consolas"/>
              </a:rPr>
              <a:t>    </a:t>
            </a:r>
            <a:r>
              <a:rPr sz="1400" b="0" i="0">
                <a:solidFill>
                  <a:srgbClr val="569CD6"/>
                </a:solidFill>
                <a:latin typeface="Consolas"/>
              </a:rPr>
              <a:t>for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(</a:t>
            </a:r>
            <a:r>
              <a:rPr sz="1400" b="0" i="0">
                <a:solidFill>
                  <a:srgbClr val="569CD6"/>
                </a:solidFill>
                <a:latin typeface="Consolas"/>
              </a:rPr>
              <a:t>int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i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=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400" b="0" i="0">
                <a:solidFill>
                  <a:srgbClr val="B5CEA8"/>
                </a:solidFill>
                <a:latin typeface="Consolas"/>
              </a:rPr>
              <a:t>0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;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i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&lt;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size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;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i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++)</a:t>
            </a:r>
          </a:p>
          <a:p>
            <a:pPr>
              <a:lnSpc>
                <a:spcPts val="1860"/>
              </a:lnSpc>
            </a:pPr>
            <a:r>
              <a:rPr sz="1400" b="0" i="0">
                <a:solidFill>
                  <a:srgbClr val="D4D4D4"/>
                </a:solidFill>
                <a:latin typeface="Consolas"/>
              </a:rPr>
              <a:t>        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total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+=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grades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[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i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];</a:t>
            </a:r>
          </a:p>
          <a:p>
            <a:pPr>
              <a:lnSpc>
                <a:spcPts val="1860"/>
              </a:lnSpc>
            </a:pPr>
            <a:r>
              <a:rPr sz="1400" b="0" i="0">
                <a:solidFill>
                  <a:srgbClr val="D4D4D4"/>
                </a:solidFill>
                <a:latin typeface="Consolas"/>
              </a:rPr>
              <a:t>    </a:t>
            </a:r>
            <a:r>
              <a:rPr sz="1400" b="0" i="0">
                <a:solidFill>
                  <a:srgbClr val="569CD6"/>
                </a:solidFill>
                <a:latin typeface="Consolas"/>
              </a:rPr>
              <a:t>return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total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/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size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;</a:t>
            </a:r>
          </a:p>
          <a:p>
            <a:pPr>
              <a:lnSpc>
                <a:spcPts val="1860"/>
              </a:lnSpc>
            </a:pPr>
            <a:r>
              <a:rPr sz="1400" b="0" i="0">
                <a:solidFill>
                  <a:srgbClr val="D4D4D4"/>
                </a:solidFill>
                <a:latin typeface="Consolas"/>
              </a:rPr>
              <a:t>}</a:t>
            </a:r>
          </a:p>
          <a:p>
            <a:pPr>
              <a:lnSpc>
                <a:spcPts val="1860"/>
              </a:lnSpc>
            </a:pPr>
            <a:r>
              <a:rPr sz="1400" b="0" i="0">
                <a:solidFill>
                  <a:srgbClr val="D4D4D4"/>
                </a:solidFill>
                <a:latin typeface="Consolas"/>
              </a:rPr>
              <a:t> </a:t>
            </a:r>
          </a:p>
          <a:p>
            <a:pPr>
              <a:lnSpc>
                <a:spcPts val="1860"/>
              </a:lnSpc>
            </a:pPr>
            <a:r>
              <a:rPr sz="1400" b="0" i="0">
                <a:solidFill>
                  <a:srgbClr val="569CD6"/>
                </a:solidFill>
                <a:latin typeface="Consolas"/>
              </a:rPr>
              <a:t>double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400" b="0" i="0">
                <a:solidFill>
                  <a:srgbClr val="DCDCAA"/>
                </a:solidFill>
                <a:latin typeface="Consolas"/>
              </a:rPr>
              <a:t>calculateAverage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(</a:t>
            </a:r>
            <a:r>
              <a:rPr sz="1400" b="0" i="0">
                <a:solidFill>
                  <a:srgbClr val="569CD6"/>
                </a:solidFill>
                <a:latin typeface="Consolas"/>
              </a:rPr>
              <a:t>double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a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,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400" b="0" i="0">
                <a:solidFill>
                  <a:srgbClr val="569CD6"/>
                </a:solidFill>
                <a:latin typeface="Consolas"/>
              </a:rPr>
              <a:t>double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b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)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{</a:t>
            </a:r>
          </a:p>
          <a:p>
            <a:pPr>
              <a:lnSpc>
                <a:spcPts val="1860"/>
              </a:lnSpc>
            </a:pPr>
            <a:r>
              <a:rPr sz="1400" b="0" i="0">
                <a:solidFill>
                  <a:srgbClr val="D4D4D4"/>
                </a:solidFill>
                <a:latin typeface="Consolas"/>
              </a:rPr>
              <a:t>    </a:t>
            </a:r>
            <a:r>
              <a:rPr sz="1400" b="0" i="0">
                <a:solidFill>
                  <a:srgbClr val="569CD6"/>
                </a:solidFill>
                <a:latin typeface="Consolas"/>
              </a:rPr>
              <a:t>return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(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a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+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b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)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/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400" b="0" i="0">
                <a:solidFill>
                  <a:srgbClr val="B5CEA8"/>
                </a:solidFill>
                <a:latin typeface="Consolas"/>
              </a:rPr>
              <a:t>2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;</a:t>
            </a:r>
          </a:p>
          <a:p>
            <a:pPr>
              <a:lnSpc>
                <a:spcPts val="1860"/>
              </a:lnSpc>
            </a:pPr>
            <a:r>
              <a:rPr sz="1400" b="0" i="0">
                <a:solidFill>
                  <a:srgbClr val="D4D4D4"/>
                </a:solidFill>
                <a:latin typeface="Consolas"/>
              </a:rPr>
              <a:t>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35240" y="1645920"/>
            <a:ext cx="3977639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sz="1400" b="0" i="0">
                <a:solidFill>
                  <a:srgbClr val="1E1E2E"/>
                </a:solidFill>
                <a:latin typeface="Calibri"/>
              </a:rPr>
              <a:t>Two functions can share a name if their PARAMETER LISTS differ.</a:t>
            </a:r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sz="1400" b="0" i="0">
                <a:solidFill>
                  <a:srgbClr val="1E1E2E"/>
                </a:solidFill>
                <a:latin typeface="Calibri"/>
              </a:rPr>
              <a:t>The compiler picks the right version based on the arguments you pass.</a:t>
            </a:r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sz="1400" b="0" i="0">
                <a:solidFill>
                  <a:srgbClr val="1E1E2E"/>
                </a:solidFill>
                <a:latin typeface="Calibri"/>
              </a:rPr>
              <a:t>The signature is the name plus parameter list — return type doesn't count.</a:t>
            </a:r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sz="1400" b="0" i="0">
                <a:solidFill>
                  <a:srgbClr val="1E1E2E"/>
                </a:solidFill>
                <a:latin typeface="Calibri"/>
              </a:rPr>
              <a:t>Module 5 adds a third overload that takes a vector of grades.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528816"/>
            <a:ext cx="6400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9CA3AF"/>
                </a:solidFill>
                <a:latin typeface="Calibri"/>
              </a:rPr>
              <a:t>C++ FUNDAMENTALS  ·  MODULE 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0" y="652881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9CA3AF"/>
                </a:solidFill>
                <a:latin typeface="Calibri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109960" y="384048"/>
            <a:ext cx="685800" cy="365760"/>
          </a:xfrm>
          <a:prstGeom prst="rect">
            <a:avLst/>
          </a:prstGeom>
          <a:solidFill>
            <a:srgbClr val="F7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 i="0">
                <a:solidFill>
                  <a:srgbClr val="0E7C7B"/>
                </a:solidFill>
                <a:latin typeface="Consolas"/>
              </a:rPr>
              <a:t>M4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E7C7B"/>
                </a:solidFill>
                <a:latin typeface="Calibri"/>
              </a:rPr>
              <a:t>OPTIONAL INPUTS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1E1E2E"/>
                </a:solidFill>
                <a:latin typeface="Consolas"/>
              </a:rPr>
              <a:t>Default Parameters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45920"/>
            <a:ext cx="6858000" cy="3231489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645920"/>
            <a:ext cx="6858000" cy="292608"/>
          </a:xfrm>
          <a:prstGeom prst="rect">
            <a:avLst/>
          </a:prstGeom>
          <a:solidFill>
            <a:srgbClr val="2D2D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13232" y="1737360"/>
            <a:ext cx="109728" cy="109728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32688" y="1737360"/>
            <a:ext cx="109728" cy="109728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52144" y="1737360"/>
            <a:ext cx="109728" cy="109728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1645920"/>
            <a:ext cx="57607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9B9BA3"/>
                </a:solidFill>
                <a:latin typeface="Consolas"/>
              </a:rPr>
              <a:t>main.cpp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2029968"/>
            <a:ext cx="6309360" cy="29846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ts val="1860"/>
              </a:lnSpc>
            </a:pPr>
            <a:r>
              <a:rPr sz="1400" b="0" i="0">
                <a:solidFill>
                  <a:srgbClr val="569CD6"/>
                </a:solidFill>
                <a:latin typeface="Consolas"/>
              </a:rPr>
              <a:t>char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400" b="0" i="0">
                <a:solidFill>
                  <a:srgbClr val="DCDCAA"/>
                </a:solidFill>
                <a:latin typeface="Consolas"/>
              </a:rPr>
              <a:t>getLetterGrade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(</a:t>
            </a:r>
          </a:p>
          <a:p>
            <a:pPr>
              <a:lnSpc>
                <a:spcPts val="1860"/>
              </a:lnSpc>
            </a:pPr>
            <a:r>
              <a:rPr sz="1400" b="0" i="0">
                <a:solidFill>
                  <a:srgbClr val="D4D4D4"/>
                </a:solidFill>
                <a:latin typeface="Consolas"/>
              </a:rPr>
              <a:t>    </a:t>
            </a:r>
            <a:r>
              <a:rPr sz="1400" b="0" i="0">
                <a:solidFill>
                  <a:srgbClr val="569CD6"/>
                </a:solidFill>
                <a:latin typeface="Consolas"/>
              </a:rPr>
              <a:t>double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average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,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400" b="0" i="0">
                <a:solidFill>
                  <a:srgbClr val="569CD6"/>
                </a:solidFill>
                <a:latin typeface="Consolas"/>
              </a:rPr>
              <a:t>double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curve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=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400" b="0" i="0">
                <a:solidFill>
                  <a:srgbClr val="B5CEA8"/>
                </a:solidFill>
                <a:latin typeface="Consolas"/>
              </a:rPr>
              <a:t>0.0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)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{</a:t>
            </a:r>
          </a:p>
          <a:p>
            <a:pPr>
              <a:lnSpc>
                <a:spcPts val="1860"/>
              </a:lnSpc>
            </a:pPr>
            <a:r>
              <a:rPr sz="1400" b="0" i="0">
                <a:solidFill>
                  <a:srgbClr val="D4D4D4"/>
                </a:solidFill>
                <a:latin typeface="Consolas"/>
              </a:rPr>
              <a:t>    </a:t>
            </a:r>
            <a:r>
              <a:rPr sz="1400" b="0" i="0">
                <a:solidFill>
                  <a:srgbClr val="569CD6"/>
                </a:solidFill>
                <a:latin typeface="Consolas"/>
              </a:rPr>
              <a:t>double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adj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=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average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+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curve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;</a:t>
            </a:r>
          </a:p>
          <a:p>
            <a:pPr>
              <a:lnSpc>
                <a:spcPts val="1860"/>
              </a:lnSpc>
            </a:pPr>
            <a:r>
              <a:rPr sz="1400" b="0" i="0">
                <a:solidFill>
                  <a:srgbClr val="D4D4D4"/>
                </a:solidFill>
                <a:latin typeface="Consolas"/>
              </a:rPr>
              <a:t>    </a:t>
            </a:r>
            <a:r>
              <a:rPr sz="1400" b="0" i="0">
                <a:solidFill>
                  <a:srgbClr val="569CD6"/>
                </a:solidFill>
                <a:latin typeface="Consolas"/>
              </a:rPr>
              <a:t>if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(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adj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&gt;=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400" b="0" i="0">
                <a:solidFill>
                  <a:srgbClr val="B5CEA8"/>
                </a:solidFill>
                <a:latin typeface="Consolas"/>
              </a:rPr>
              <a:t>90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)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400" b="0" i="0">
                <a:solidFill>
                  <a:srgbClr val="569CD6"/>
                </a:solidFill>
                <a:latin typeface="Consolas"/>
              </a:rPr>
              <a:t>return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400" b="0" i="0">
                <a:solidFill>
                  <a:srgbClr val="CE9178"/>
                </a:solidFill>
                <a:latin typeface="Consolas"/>
              </a:rPr>
              <a:t>'A'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;</a:t>
            </a:r>
          </a:p>
          <a:p>
            <a:pPr>
              <a:lnSpc>
                <a:spcPts val="1860"/>
              </a:lnSpc>
            </a:pPr>
            <a:r>
              <a:rPr sz="1400" b="0" i="0">
                <a:solidFill>
                  <a:srgbClr val="D4D4D4"/>
                </a:solidFill>
                <a:latin typeface="Consolas"/>
              </a:rPr>
              <a:t>    </a:t>
            </a:r>
            <a:r>
              <a:rPr sz="1400" b="0" i="0">
                <a:solidFill>
                  <a:srgbClr val="569CD6"/>
                </a:solidFill>
                <a:latin typeface="Consolas"/>
              </a:rPr>
              <a:t>return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400" b="0" i="0">
                <a:solidFill>
                  <a:srgbClr val="CE9178"/>
                </a:solidFill>
                <a:latin typeface="Consolas"/>
              </a:rPr>
              <a:t>'B'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;</a:t>
            </a:r>
          </a:p>
          <a:p>
            <a:pPr>
              <a:lnSpc>
                <a:spcPts val="1860"/>
              </a:lnSpc>
            </a:pPr>
            <a:r>
              <a:rPr sz="1400" b="0" i="0">
                <a:solidFill>
                  <a:srgbClr val="D4D4D4"/>
                </a:solidFill>
                <a:latin typeface="Consolas"/>
              </a:rPr>
              <a:t>}</a:t>
            </a:r>
          </a:p>
          <a:p>
            <a:pPr>
              <a:lnSpc>
                <a:spcPts val="1860"/>
              </a:lnSpc>
            </a:pPr>
            <a:r>
              <a:rPr sz="1400" b="0" i="0">
                <a:solidFill>
                  <a:srgbClr val="D4D4D4"/>
                </a:solidFill>
                <a:latin typeface="Consolas"/>
              </a:rPr>
              <a:t> </a:t>
            </a:r>
          </a:p>
          <a:p>
            <a:pPr>
              <a:lnSpc>
                <a:spcPts val="1860"/>
              </a:lnSpc>
            </a:pPr>
            <a:r>
              <a:rPr sz="1400" b="0" i="0">
                <a:solidFill>
                  <a:srgbClr val="569CD6"/>
                </a:solidFill>
                <a:latin typeface="Consolas"/>
              </a:rPr>
              <a:t>int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400" b="0" i="0">
                <a:solidFill>
                  <a:srgbClr val="DCDCAA"/>
                </a:solidFill>
                <a:latin typeface="Consolas"/>
              </a:rPr>
              <a:t>main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()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{</a:t>
            </a:r>
          </a:p>
          <a:p>
            <a:pPr>
              <a:lnSpc>
                <a:spcPts val="1860"/>
              </a:lnSpc>
            </a:pPr>
            <a:r>
              <a:rPr sz="1400" b="0" i="0">
                <a:solidFill>
                  <a:srgbClr val="D4D4D4"/>
                </a:solidFill>
                <a:latin typeface="Consolas"/>
              </a:rPr>
              <a:t>    </a:t>
            </a:r>
            <a:r>
              <a:rPr sz="1400" b="0" i="0">
                <a:solidFill>
                  <a:srgbClr val="DCDCAA"/>
                </a:solidFill>
                <a:latin typeface="Consolas"/>
              </a:rPr>
              <a:t>getLetterGrade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(</a:t>
            </a:r>
            <a:r>
              <a:rPr sz="1400" b="0" i="0">
                <a:solidFill>
                  <a:srgbClr val="B5CEA8"/>
                </a:solidFill>
                <a:latin typeface="Consolas"/>
              </a:rPr>
              <a:t>75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);</a:t>
            </a:r>
          </a:p>
          <a:p>
            <a:pPr>
              <a:lnSpc>
                <a:spcPts val="1860"/>
              </a:lnSpc>
            </a:pPr>
            <a:r>
              <a:rPr sz="1400" b="0" i="0">
                <a:solidFill>
                  <a:srgbClr val="D4D4D4"/>
                </a:solidFill>
                <a:latin typeface="Consolas"/>
              </a:rPr>
              <a:t>    </a:t>
            </a:r>
            <a:r>
              <a:rPr sz="1400" b="0" i="0">
                <a:solidFill>
                  <a:srgbClr val="DCDCAA"/>
                </a:solidFill>
                <a:latin typeface="Consolas"/>
              </a:rPr>
              <a:t>getLetterGrade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(</a:t>
            </a:r>
            <a:r>
              <a:rPr sz="1400" b="0" i="0">
                <a:solidFill>
                  <a:srgbClr val="B5CEA8"/>
                </a:solidFill>
                <a:latin typeface="Consolas"/>
              </a:rPr>
              <a:t>75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,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400" b="0" i="0">
                <a:solidFill>
                  <a:srgbClr val="B5CEA8"/>
                </a:solidFill>
                <a:latin typeface="Consolas"/>
              </a:rPr>
              <a:t>5.0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);</a:t>
            </a:r>
          </a:p>
          <a:p>
            <a:pPr>
              <a:lnSpc>
                <a:spcPts val="1860"/>
              </a:lnSpc>
            </a:pPr>
            <a:r>
              <a:rPr sz="1400" b="0" i="0">
                <a:solidFill>
                  <a:srgbClr val="D4D4D4"/>
                </a:solidFill>
                <a:latin typeface="Consolas"/>
              </a:rPr>
              <a:t>    </a:t>
            </a:r>
            <a:r>
              <a:rPr sz="1400" b="0" i="0">
                <a:solidFill>
                  <a:srgbClr val="569CD6"/>
                </a:solidFill>
                <a:latin typeface="Consolas"/>
              </a:rPr>
              <a:t>return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1400" b="0" i="0">
                <a:solidFill>
                  <a:srgbClr val="B5CEA8"/>
                </a:solidFill>
                <a:latin typeface="Consolas"/>
              </a:rPr>
              <a:t>0</a:t>
            </a:r>
            <a:r>
              <a:rPr sz="1400" b="0" i="0">
                <a:solidFill>
                  <a:srgbClr val="D4D4D4"/>
                </a:solidFill>
                <a:latin typeface="Consolas"/>
              </a:rPr>
              <a:t>;</a:t>
            </a:r>
          </a:p>
          <a:p>
            <a:pPr>
              <a:lnSpc>
                <a:spcPts val="1860"/>
              </a:lnSpc>
            </a:pPr>
            <a:r>
              <a:rPr sz="1400" b="0" i="0">
                <a:solidFill>
                  <a:srgbClr val="D4D4D4"/>
                </a:solidFill>
                <a:latin typeface="Consolas"/>
              </a:rPr>
              <a:t>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35240" y="1645920"/>
            <a:ext cx="3977639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sz="1400" b="0" i="0">
                <a:solidFill>
                  <a:srgbClr val="1E1E2E"/>
                </a:solidFill>
                <a:latin typeface="Calibri"/>
              </a:rPr>
              <a:t>curve = 0.0 is the DEFAULT — used only when the caller omits it.</a:t>
            </a:r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sz="1400" b="0" i="0">
                <a:solidFill>
                  <a:srgbClr val="1E1E2E"/>
                </a:solidFill>
                <a:latin typeface="Calibri"/>
              </a:rPr>
              <a:t>getLetterGrade(75) runs with curve automatically set to 0.0.</a:t>
            </a:r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sz="1400" b="0" i="0">
                <a:solidFill>
                  <a:srgbClr val="1E1E2E"/>
                </a:solidFill>
                <a:latin typeface="Calibri"/>
              </a:rPr>
              <a:t>getLetterGrade(75, 5.0) overrides the default with a 5-point curve.</a:t>
            </a:r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sz="1400" b="0" i="0">
                <a:solidFill>
                  <a:srgbClr val="1E1E2E"/>
                </a:solidFill>
                <a:latin typeface="Calibri"/>
              </a:rPr>
              <a:t>Default parameters must come after any required parameters in the list.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528816"/>
            <a:ext cx="6400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9CA3AF"/>
                </a:solidFill>
                <a:latin typeface="Calibri"/>
              </a:rPr>
              <a:t>C++ FUNDAMENTALS  ·  MODULE 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0" y="652881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9CA3AF"/>
                </a:solidFill>
                <a:latin typeface="Calibri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109960" y="384048"/>
            <a:ext cx="685800" cy="365760"/>
          </a:xfrm>
          <a:prstGeom prst="rect">
            <a:avLst/>
          </a:prstGeom>
          <a:solidFill>
            <a:srgbClr val="F7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 i="0">
                <a:solidFill>
                  <a:srgbClr val="0E7C7B"/>
                </a:solidFill>
                <a:latin typeface="Consolas"/>
              </a:rPr>
              <a:t>M4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E7C7B"/>
                </a:solidFill>
                <a:latin typeface="Calibri"/>
              </a:rPr>
              <a:t>WHERE VARIABLES LIVE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1E1E2E"/>
                </a:solidFill>
                <a:latin typeface="Consolas"/>
              </a:rPr>
              <a:t>Variable Scope: Local vs. Global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658368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sz="1700" b="0" i="0">
                <a:solidFill>
                  <a:srgbClr val="1E1E2E"/>
                </a:solidFill>
                <a:latin typeface="Calibri"/>
              </a:rPr>
              <a:t>Local variables live inside the function (or block) where they're declared.</a:t>
            </a:r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sz="1700" b="0" i="0">
                <a:solidFill>
                  <a:srgbClr val="1E1E2E"/>
                </a:solidFill>
                <a:latin typeface="Calibri"/>
              </a:rPr>
              <a:t>Two different functions can each safely use a variable named total.</a:t>
            </a:r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sz="1700" b="0" i="0">
                <a:solidFill>
                  <a:srgbClr val="1E1E2E"/>
                </a:solidFill>
                <a:latin typeface="Calibri"/>
              </a:rPr>
              <a:t>Global variables are declared outside every function — visible everywhere.</a:t>
            </a:r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sz="1700" b="0" i="0">
                <a:solidFill>
                  <a:srgbClr val="1E1E2E"/>
                </a:solidFill>
                <a:latin typeface="Calibri"/>
              </a:rPr>
              <a:t>Globals make bugs harder to trace since any function could change them.</a:t>
            </a:r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sz="1700" b="0" i="0">
                <a:solidFill>
                  <a:srgbClr val="1E1E2E"/>
                </a:solidFill>
                <a:latin typeface="Calibri"/>
              </a:rPr>
              <a:t>Prefer locals: pass data in as parameters, hand results back with return.</a:t>
            </a:r>
          </a:p>
        </p:txBody>
      </p:sp>
      <p:sp>
        <p:nvSpPr>
          <p:cNvPr id="6" name="Rectangle 5"/>
          <p:cNvSpPr/>
          <p:nvPr/>
        </p:nvSpPr>
        <p:spPr>
          <a:xfrm>
            <a:off x="7452360" y="1691640"/>
            <a:ext cx="3977639" cy="2926080"/>
          </a:xfrm>
          <a:prstGeom prst="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26679" y="1874519"/>
            <a:ext cx="3474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0A500"/>
                </a:solidFill>
                <a:latin typeface="Calibri"/>
              </a:rPr>
              <a:t>Rule of Thumb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26679" y="2240280"/>
            <a:ext cx="347472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400" b="0" i="0">
                <a:solidFill>
                  <a:srgbClr val="F2F2F2"/>
                </a:solidFill>
                <a:latin typeface="Calibri"/>
              </a:rPr>
              <a:t>If a function needs data, pass it in as a parameter. Reach for a global only when truly necessary.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528816"/>
            <a:ext cx="6400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9CA3AF"/>
                </a:solidFill>
                <a:latin typeface="Calibri"/>
              </a:rPr>
              <a:t>C++ FUNDAMENTALS  ·  MODULE 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52881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9CA3AF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109960" y="384048"/>
            <a:ext cx="685800" cy="365760"/>
          </a:xfrm>
          <a:prstGeom prst="rect">
            <a:avLst/>
          </a:prstGeom>
          <a:solidFill>
            <a:srgbClr val="F7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 i="0">
                <a:solidFill>
                  <a:srgbClr val="0E7C7B"/>
                </a:solidFill>
                <a:latin typeface="Consolas"/>
              </a:rPr>
              <a:t>M4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365760"/>
            <a:ext cx="2834640" cy="365760"/>
          </a:xfrm>
          <a:prstGeom prst="roundRect">
            <a:avLst/>
          </a:prstGeom>
          <a:solidFill>
            <a:srgbClr val="F0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rIns="0" tIns="0" bIns="0"/>
          <a:lstStyle/>
          <a:p>
            <a:pPr algn="ctr"/>
            <a:r>
              <a:rPr sz="1300" b="1" i="0">
                <a:solidFill>
                  <a:srgbClr val="1E1E2E"/>
                </a:solidFill>
                <a:latin typeface="Calibri"/>
              </a:rPr>
              <a:t>PROJECT BUILD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1E1E2E"/>
                </a:solidFill>
                <a:latin typeface="Consolas"/>
              </a:rPr>
              <a:t>Project Build: Refactoring main() Into Functions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783080"/>
            <a:ext cx="6858000" cy="3583533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783080"/>
            <a:ext cx="6858000" cy="292608"/>
          </a:xfrm>
          <a:prstGeom prst="rect">
            <a:avLst/>
          </a:prstGeom>
          <a:solidFill>
            <a:srgbClr val="2D2D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13232" y="1874519"/>
            <a:ext cx="109728" cy="109728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32688" y="1874519"/>
            <a:ext cx="109728" cy="109728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52144" y="1874519"/>
            <a:ext cx="109728" cy="109728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1783080"/>
            <a:ext cx="57607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9B9BA3"/>
                </a:solidFill>
                <a:latin typeface="Consolas"/>
              </a:rPr>
              <a:t>main.cpp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2167128"/>
            <a:ext cx="6309360" cy="333664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ts val="1360"/>
              </a:lnSpc>
            </a:pPr>
            <a:r>
              <a:rPr sz="900" b="0" i="0">
                <a:solidFill>
                  <a:srgbClr val="569CD6"/>
                </a:solidFill>
                <a:latin typeface="Consolas"/>
              </a:rPr>
              <a:t>double</a:t>
            </a:r>
            <a:r>
              <a:rPr sz="9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900" b="0" i="0">
                <a:solidFill>
                  <a:srgbClr val="DCDCAA"/>
                </a:solidFill>
                <a:latin typeface="Consolas"/>
              </a:rPr>
              <a:t>calculateAverage</a:t>
            </a:r>
            <a:r>
              <a:rPr sz="900" b="0" i="0">
                <a:solidFill>
                  <a:srgbClr val="D4D4D4"/>
                </a:solidFill>
                <a:latin typeface="Consolas"/>
              </a:rPr>
              <a:t>(</a:t>
            </a:r>
            <a:r>
              <a:rPr sz="900" b="0" i="0">
                <a:solidFill>
                  <a:srgbClr val="569CD6"/>
                </a:solidFill>
                <a:latin typeface="Consolas"/>
              </a:rPr>
              <a:t>double</a:t>
            </a:r>
            <a:r>
              <a:rPr sz="9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900" b="0" i="0">
                <a:solidFill>
                  <a:srgbClr val="D4D4D4"/>
                </a:solidFill>
                <a:latin typeface="Consolas"/>
              </a:rPr>
              <a:t>grades</a:t>
            </a:r>
            <a:r>
              <a:rPr sz="900" b="0" i="0">
                <a:solidFill>
                  <a:srgbClr val="D4D4D4"/>
                </a:solidFill>
                <a:latin typeface="Consolas"/>
              </a:rPr>
              <a:t>[],</a:t>
            </a:r>
            <a:r>
              <a:rPr sz="9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900" b="0" i="0">
                <a:solidFill>
                  <a:srgbClr val="569CD6"/>
                </a:solidFill>
                <a:latin typeface="Consolas"/>
              </a:rPr>
              <a:t>int</a:t>
            </a:r>
            <a:r>
              <a:rPr sz="9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900" b="0" i="0">
                <a:solidFill>
                  <a:srgbClr val="D4D4D4"/>
                </a:solidFill>
                <a:latin typeface="Consolas"/>
              </a:rPr>
              <a:t>n</a:t>
            </a:r>
            <a:r>
              <a:rPr sz="900" b="0" i="0">
                <a:solidFill>
                  <a:srgbClr val="D4D4D4"/>
                </a:solidFill>
                <a:latin typeface="Consolas"/>
              </a:rPr>
              <a:t>)</a:t>
            </a:r>
            <a:r>
              <a:rPr sz="9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900" b="0" i="0">
                <a:solidFill>
                  <a:srgbClr val="D4D4D4"/>
                </a:solidFill>
                <a:latin typeface="Consolas"/>
              </a:rPr>
              <a:t>{</a:t>
            </a:r>
          </a:p>
          <a:p>
            <a:pPr>
              <a:lnSpc>
                <a:spcPts val="1360"/>
              </a:lnSpc>
            </a:pPr>
            <a:r>
              <a:rPr sz="900" b="0" i="0">
                <a:solidFill>
                  <a:srgbClr val="D4D4D4"/>
                </a:solidFill>
                <a:latin typeface="Consolas"/>
              </a:rPr>
              <a:t>    </a:t>
            </a:r>
            <a:r>
              <a:rPr sz="900" b="0" i="0">
                <a:solidFill>
                  <a:srgbClr val="569CD6"/>
                </a:solidFill>
                <a:latin typeface="Consolas"/>
              </a:rPr>
              <a:t>double</a:t>
            </a:r>
            <a:r>
              <a:rPr sz="9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900" b="0" i="0">
                <a:solidFill>
                  <a:srgbClr val="D4D4D4"/>
                </a:solidFill>
                <a:latin typeface="Consolas"/>
              </a:rPr>
              <a:t>sum</a:t>
            </a:r>
            <a:r>
              <a:rPr sz="9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900" b="0" i="0">
                <a:solidFill>
                  <a:srgbClr val="D4D4D4"/>
                </a:solidFill>
                <a:latin typeface="Consolas"/>
              </a:rPr>
              <a:t>=</a:t>
            </a:r>
            <a:r>
              <a:rPr sz="9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900" b="0" i="0">
                <a:solidFill>
                  <a:srgbClr val="B5CEA8"/>
                </a:solidFill>
                <a:latin typeface="Consolas"/>
              </a:rPr>
              <a:t>0</a:t>
            </a:r>
            <a:r>
              <a:rPr sz="900" b="0" i="0">
                <a:solidFill>
                  <a:srgbClr val="D4D4D4"/>
                </a:solidFill>
                <a:latin typeface="Consolas"/>
              </a:rPr>
              <a:t>;</a:t>
            </a:r>
          </a:p>
          <a:p>
            <a:pPr>
              <a:lnSpc>
                <a:spcPts val="1360"/>
              </a:lnSpc>
            </a:pPr>
            <a:r>
              <a:rPr sz="900" b="0" i="0">
                <a:solidFill>
                  <a:srgbClr val="D4D4D4"/>
                </a:solidFill>
                <a:latin typeface="Consolas"/>
              </a:rPr>
              <a:t>    </a:t>
            </a:r>
            <a:r>
              <a:rPr sz="900" b="0" i="0">
                <a:solidFill>
                  <a:srgbClr val="569CD6"/>
                </a:solidFill>
                <a:latin typeface="Consolas"/>
              </a:rPr>
              <a:t>for</a:t>
            </a:r>
            <a:r>
              <a:rPr sz="9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900" b="0" i="0">
                <a:solidFill>
                  <a:srgbClr val="D4D4D4"/>
                </a:solidFill>
                <a:latin typeface="Consolas"/>
              </a:rPr>
              <a:t>(</a:t>
            </a:r>
            <a:r>
              <a:rPr sz="900" b="0" i="0">
                <a:solidFill>
                  <a:srgbClr val="569CD6"/>
                </a:solidFill>
                <a:latin typeface="Consolas"/>
              </a:rPr>
              <a:t>int</a:t>
            </a:r>
            <a:r>
              <a:rPr sz="9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900" b="0" i="0">
                <a:solidFill>
                  <a:srgbClr val="D4D4D4"/>
                </a:solidFill>
                <a:latin typeface="Consolas"/>
              </a:rPr>
              <a:t>i</a:t>
            </a:r>
            <a:r>
              <a:rPr sz="9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900" b="0" i="0">
                <a:solidFill>
                  <a:srgbClr val="D4D4D4"/>
                </a:solidFill>
                <a:latin typeface="Consolas"/>
              </a:rPr>
              <a:t>=</a:t>
            </a:r>
            <a:r>
              <a:rPr sz="9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900" b="0" i="0">
                <a:solidFill>
                  <a:srgbClr val="B5CEA8"/>
                </a:solidFill>
                <a:latin typeface="Consolas"/>
              </a:rPr>
              <a:t>0</a:t>
            </a:r>
            <a:r>
              <a:rPr sz="900" b="0" i="0">
                <a:solidFill>
                  <a:srgbClr val="D4D4D4"/>
                </a:solidFill>
                <a:latin typeface="Consolas"/>
              </a:rPr>
              <a:t>;</a:t>
            </a:r>
            <a:r>
              <a:rPr sz="9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900" b="0" i="0">
                <a:solidFill>
                  <a:srgbClr val="D4D4D4"/>
                </a:solidFill>
                <a:latin typeface="Consolas"/>
              </a:rPr>
              <a:t>i</a:t>
            </a:r>
            <a:r>
              <a:rPr sz="9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900" b="0" i="0">
                <a:solidFill>
                  <a:srgbClr val="D4D4D4"/>
                </a:solidFill>
                <a:latin typeface="Consolas"/>
              </a:rPr>
              <a:t>&lt;</a:t>
            </a:r>
            <a:r>
              <a:rPr sz="9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900" b="0" i="0">
                <a:solidFill>
                  <a:srgbClr val="D4D4D4"/>
                </a:solidFill>
                <a:latin typeface="Consolas"/>
              </a:rPr>
              <a:t>n</a:t>
            </a:r>
            <a:r>
              <a:rPr sz="900" b="0" i="0">
                <a:solidFill>
                  <a:srgbClr val="D4D4D4"/>
                </a:solidFill>
                <a:latin typeface="Consolas"/>
              </a:rPr>
              <a:t>;</a:t>
            </a:r>
            <a:r>
              <a:rPr sz="9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900" b="0" i="0">
                <a:solidFill>
                  <a:srgbClr val="D4D4D4"/>
                </a:solidFill>
                <a:latin typeface="Consolas"/>
              </a:rPr>
              <a:t>i</a:t>
            </a:r>
            <a:r>
              <a:rPr sz="900" b="0" i="0">
                <a:solidFill>
                  <a:srgbClr val="D4D4D4"/>
                </a:solidFill>
                <a:latin typeface="Consolas"/>
              </a:rPr>
              <a:t>++)</a:t>
            </a:r>
            <a:r>
              <a:rPr sz="9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900" b="0" i="0">
                <a:solidFill>
                  <a:srgbClr val="D4D4D4"/>
                </a:solidFill>
                <a:latin typeface="Consolas"/>
              </a:rPr>
              <a:t>sum</a:t>
            </a:r>
            <a:r>
              <a:rPr sz="9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900" b="0" i="0">
                <a:solidFill>
                  <a:srgbClr val="D4D4D4"/>
                </a:solidFill>
                <a:latin typeface="Consolas"/>
              </a:rPr>
              <a:t>+=</a:t>
            </a:r>
            <a:r>
              <a:rPr sz="9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900" b="0" i="0">
                <a:solidFill>
                  <a:srgbClr val="D4D4D4"/>
                </a:solidFill>
                <a:latin typeface="Consolas"/>
              </a:rPr>
              <a:t>grades</a:t>
            </a:r>
            <a:r>
              <a:rPr sz="900" b="0" i="0">
                <a:solidFill>
                  <a:srgbClr val="D4D4D4"/>
                </a:solidFill>
                <a:latin typeface="Consolas"/>
              </a:rPr>
              <a:t>[</a:t>
            </a:r>
            <a:r>
              <a:rPr sz="900" b="0" i="0">
                <a:solidFill>
                  <a:srgbClr val="D4D4D4"/>
                </a:solidFill>
                <a:latin typeface="Consolas"/>
              </a:rPr>
              <a:t>i</a:t>
            </a:r>
            <a:r>
              <a:rPr sz="900" b="0" i="0">
                <a:solidFill>
                  <a:srgbClr val="D4D4D4"/>
                </a:solidFill>
                <a:latin typeface="Consolas"/>
              </a:rPr>
              <a:t>];</a:t>
            </a:r>
          </a:p>
          <a:p>
            <a:pPr>
              <a:lnSpc>
                <a:spcPts val="1360"/>
              </a:lnSpc>
            </a:pPr>
            <a:r>
              <a:rPr sz="900" b="0" i="0">
                <a:solidFill>
                  <a:srgbClr val="D4D4D4"/>
                </a:solidFill>
                <a:latin typeface="Consolas"/>
              </a:rPr>
              <a:t>    </a:t>
            </a:r>
            <a:r>
              <a:rPr sz="900" b="0" i="0">
                <a:solidFill>
                  <a:srgbClr val="569CD6"/>
                </a:solidFill>
                <a:latin typeface="Consolas"/>
              </a:rPr>
              <a:t>return</a:t>
            </a:r>
            <a:r>
              <a:rPr sz="9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900" b="0" i="0">
                <a:solidFill>
                  <a:srgbClr val="D4D4D4"/>
                </a:solidFill>
                <a:latin typeface="Consolas"/>
              </a:rPr>
              <a:t>sum</a:t>
            </a:r>
            <a:r>
              <a:rPr sz="9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900" b="0" i="0">
                <a:solidFill>
                  <a:srgbClr val="D4D4D4"/>
                </a:solidFill>
                <a:latin typeface="Consolas"/>
              </a:rPr>
              <a:t>/</a:t>
            </a:r>
            <a:r>
              <a:rPr sz="9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900" b="0" i="0">
                <a:solidFill>
                  <a:srgbClr val="D4D4D4"/>
                </a:solidFill>
                <a:latin typeface="Consolas"/>
              </a:rPr>
              <a:t>n</a:t>
            </a:r>
            <a:r>
              <a:rPr sz="900" b="0" i="0">
                <a:solidFill>
                  <a:srgbClr val="D4D4D4"/>
                </a:solidFill>
                <a:latin typeface="Consolas"/>
              </a:rPr>
              <a:t>;</a:t>
            </a:r>
          </a:p>
          <a:p>
            <a:pPr>
              <a:lnSpc>
                <a:spcPts val="1360"/>
              </a:lnSpc>
            </a:pPr>
            <a:r>
              <a:rPr sz="900" b="0" i="0">
                <a:solidFill>
                  <a:srgbClr val="D4D4D4"/>
                </a:solidFill>
                <a:latin typeface="Consolas"/>
              </a:rPr>
              <a:t>}</a:t>
            </a:r>
          </a:p>
          <a:p>
            <a:pPr>
              <a:lnSpc>
                <a:spcPts val="1360"/>
              </a:lnSpc>
            </a:pPr>
            <a:r>
              <a:rPr sz="900" b="0" i="0">
                <a:solidFill>
                  <a:srgbClr val="569CD6"/>
                </a:solidFill>
                <a:latin typeface="Consolas"/>
              </a:rPr>
              <a:t>char</a:t>
            </a:r>
            <a:r>
              <a:rPr sz="9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900" b="0" i="0">
                <a:solidFill>
                  <a:srgbClr val="DCDCAA"/>
                </a:solidFill>
                <a:latin typeface="Consolas"/>
              </a:rPr>
              <a:t>getLetterGrade</a:t>
            </a:r>
            <a:r>
              <a:rPr sz="900" b="0" i="0">
                <a:solidFill>
                  <a:srgbClr val="D4D4D4"/>
                </a:solidFill>
                <a:latin typeface="Consolas"/>
              </a:rPr>
              <a:t>(</a:t>
            </a:r>
            <a:r>
              <a:rPr sz="900" b="0" i="0">
                <a:solidFill>
                  <a:srgbClr val="569CD6"/>
                </a:solidFill>
                <a:latin typeface="Consolas"/>
              </a:rPr>
              <a:t>double</a:t>
            </a:r>
            <a:r>
              <a:rPr sz="9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900" b="0" i="0">
                <a:solidFill>
                  <a:srgbClr val="D4D4D4"/>
                </a:solidFill>
                <a:latin typeface="Consolas"/>
              </a:rPr>
              <a:t>avg</a:t>
            </a:r>
            <a:r>
              <a:rPr sz="900" b="0" i="0">
                <a:solidFill>
                  <a:srgbClr val="D4D4D4"/>
                </a:solidFill>
                <a:latin typeface="Consolas"/>
              </a:rPr>
              <a:t>)</a:t>
            </a:r>
            <a:r>
              <a:rPr sz="9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900" b="0" i="0">
                <a:solidFill>
                  <a:srgbClr val="D4D4D4"/>
                </a:solidFill>
                <a:latin typeface="Consolas"/>
              </a:rPr>
              <a:t>{</a:t>
            </a:r>
          </a:p>
          <a:p>
            <a:pPr>
              <a:lnSpc>
                <a:spcPts val="1360"/>
              </a:lnSpc>
            </a:pPr>
            <a:r>
              <a:rPr sz="900" b="0" i="0">
                <a:solidFill>
                  <a:srgbClr val="D4D4D4"/>
                </a:solidFill>
                <a:latin typeface="Consolas"/>
              </a:rPr>
              <a:t>    </a:t>
            </a:r>
            <a:r>
              <a:rPr sz="900" b="0" i="0">
                <a:solidFill>
                  <a:srgbClr val="569CD6"/>
                </a:solidFill>
                <a:latin typeface="Consolas"/>
              </a:rPr>
              <a:t>if</a:t>
            </a:r>
            <a:r>
              <a:rPr sz="9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900" b="0" i="0">
                <a:solidFill>
                  <a:srgbClr val="D4D4D4"/>
                </a:solidFill>
                <a:latin typeface="Consolas"/>
              </a:rPr>
              <a:t>(</a:t>
            </a:r>
            <a:r>
              <a:rPr sz="900" b="0" i="0">
                <a:solidFill>
                  <a:srgbClr val="D4D4D4"/>
                </a:solidFill>
                <a:latin typeface="Consolas"/>
              </a:rPr>
              <a:t>avg</a:t>
            </a:r>
            <a:r>
              <a:rPr sz="9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900" b="0" i="0">
                <a:solidFill>
                  <a:srgbClr val="D4D4D4"/>
                </a:solidFill>
                <a:latin typeface="Consolas"/>
              </a:rPr>
              <a:t>&gt;=</a:t>
            </a:r>
            <a:r>
              <a:rPr sz="9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900" b="0" i="0">
                <a:solidFill>
                  <a:srgbClr val="B5CEA8"/>
                </a:solidFill>
                <a:latin typeface="Consolas"/>
              </a:rPr>
              <a:t>90</a:t>
            </a:r>
            <a:r>
              <a:rPr sz="900" b="0" i="0">
                <a:solidFill>
                  <a:srgbClr val="D4D4D4"/>
                </a:solidFill>
                <a:latin typeface="Consolas"/>
              </a:rPr>
              <a:t>)</a:t>
            </a:r>
            <a:r>
              <a:rPr sz="9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900" b="0" i="0">
                <a:solidFill>
                  <a:srgbClr val="569CD6"/>
                </a:solidFill>
                <a:latin typeface="Consolas"/>
              </a:rPr>
              <a:t>return</a:t>
            </a:r>
            <a:r>
              <a:rPr sz="9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900" b="0" i="0">
                <a:solidFill>
                  <a:srgbClr val="CE9178"/>
                </a:solidFill>
                <a:latin typeface="Consolas"/>
              </a:rPr>
              <a:t>'A'</a:t>
            </a:r>
            <a:r>
              <a:rPr sz="900" b="0" i="0">
                <a:solidFill>
                  <a:srgbClr val="D4D4D4"/>
                </a:solidFill>
                <a:latin typeface="Consolas"/>
              </a:rPr>
              <a:t>;</a:t>
            </a:r>
          </a:p>
          <a:p>
            <a:pPr>
              <a:lnSpc>
                <a:spcPts val="1360"/>
              </a:lnSpc>
            </a:pPr>
            <a:r>
              <a:rPr sz="900" b="0" i="0">
                <a:solidFill>
                  <a:srgbClr val="D4D4D4"/>
                </a:solidFill>
                <a:latin typeface="Consolas"/>
              </a:rPr>
              <a:t>    </a:t>
            </a:r>
            <a:r>
              <a:rPr sz="900" b="0" i="0">
                <a:solidFill>
                  <a:srgbClr val="569CD6"/>
                </a:solidFill>
                <a:latin typeface="Consolas"/>
              </a:rPr>
              <a:t>if</a:t>
            </a:r>
            <a:r>
              <a:rPr sz="9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900" b="0" i="0">
                <a:solidFill>
                  <a:srgbClr val="D4D4D4"/>
                </a:solidFill>
                <a:latin typeface="Consolas"/>
              </a:rPr>
              <a:t>(</a:t>
            </a:r>
            <a:r>
              <a:rPr sz="900" b="0" i="0">
                <a:solidFill>
                  <a:srgbClr val="D4D4D4"/>
                </a:solidFill>
                <a:latin typeface="Consolas"/>
              </a:rPr>
              <a:t>avg</a:t>
            </a:r>
            <a:r>
              <a:rPr sz="9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900" b="0" i="0">
                <a:solidFill>
                  <a:srgbClr val="D4D4D4"/>
                </a:solidFill>
                <a:latin typeface="Consolas"/>
              </a:rPr>
              <a:t>&gt;=</a:t>
            </a:r>
            <a:r>
              <a:rPr sz="9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900" b="0" i="0">
                <a:solidFill>
                  <a:srgbClr val="B5CEA8"/>
                </a:solidFill>
                <a:latin typeface="Consolas"/>
              </a:rPr>
              <a:t>80</a:t>
            </a:r>
            <a:r>
              <a:rPr sz="900" b="0" i="0">
                <a:solidFill>
                  <a:srgbClr val="D4D4D4"/>
                </a:solidFill>
                <a:latin typeface="Consolas"/>
              </a:rPr>
              <a:t>)</a:t>
            </a:r>
            <a:r>
              <a:rPr sz="9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900" b="0" i="0">
                <a:solidFill>
                  <a:srgbClr val="569CD6"/>
                </a:solidFill>
                <a:latin typeface="Consolas"/>
              </a:rPr>
              <a:t>return</a:t>
            </a:r>
            <a:r>
              <a:rPr sz="9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900" b="0" i="0">
                <a:solidFill>
                  <a:srgbClr val="CE9178"/>
                </a:solidFill>
                <a:latin typeface="Consolas"/>
              </a:rPr>
              <a:t>'B'</a:t>
            </a:r>
            <a:r>
              <a:rPr sz="900" b="0" i="0">
                <a:solidFill>
                  <a:srgbClr val="D4D4D4"/>
                </a:solidFill>
                <a:latin typeface="Consolas"/>
              </a:rPr>
              <a:t>;</a:t>
            </a:r>
          </a:p>
          <a:p>
            <a:pPr>
              <a:lnSpc>
                <a:spcPts val="1360"/>
              </a:lnSpc>
            </a:pPr>
            <a:r>
              <a:rPr sz="900" b="0" i="0">
                <a:solidFill>
                  <a:srgbClr val="D4D4D4"/>
                </a:solidFill>
                <a:latin typeface="Consolas"/>
              </a:rPr>
              <a:t>    </a:t>
            </a:r>
            <a:r>
              <a:rPr sz="900" b="0" i="0">
                <a:solidFill>
                  <a:srgbClr val="569CD6"/>
                </a:solidFill>
                <a:latin typeface="Consolas"/>
              </a:rPr>
              <a:t>if</a:t>
            </a:r>
            <a:r>
              <a:rPr sz="9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900" b="0" i="0">
                <a:solidFill>
                  <a:srgbClr val="D4D4D4"/>
                </a:solidFill>
                <a:latin typeface="Consolas"/>
              </a:rPr>
              <a:t>(</a:t>
            </a:r>
            <a:r>
              <a:rPr sz="900" b="0" i="0">
                <a:solidFill>
                  <a:srgbClr val="D4D4D4"/>
                </a:solidFill>
                <a:latin typeface="Consolas"/>
              </a:rPr>
              <a:t>avg</a:t>
            </a:r>
            <a:r>
              <a:rPr sz="9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900" b="0" i="0">
                <a:solidFill>
                  <a:srgbClr val="D4D4D4"/>
                </a:solidFill>
                <a:latin typeface="Consolas"/>
              </a:rPr>
              <a:t>&gt;=</a:t>
            </a:r>
            <a:r>
              <a:rPr sz="9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900" b="0" i="0">
                <a:solidFill>
                  <a:srgbClr val="B5CEA8"/>
                </a:solidFill>
                <a:latin typeface="Consolas"/>
              </a:rPr>
              <a:t>70</a:t>
            </a:r>
            <a:r>
              <a:rPr sz="900" b="0" i="0">
                <a:solidFill>
                  <a:srgbClr val="D4D4D4"/>
                </a:solidFill>
                <a:latin typeface="Consolas"/>
              </a:rPr>
              <a:t>)</a:t>
            </a:r>
            <a:r>
              <a:rPr sz="9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900" b="0" i="0">
                <a:solidFill>
                  <a:srgbClr val="569CD6"/>
                </a:solidFill>
                <a:latin typeface="Consolas"/>
              </a:rPr>
              <a:t>return</a:t>
            </a:r>
            <a:r>
              <a:rPr sz="9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900" b="0" i="0">
                <a:solidFill>
                  <a:srgbClr val="CE9178"/>
                </a:solidFill>
                <a:latin typeface="Consolas"/>
              </a:rPr>
              <a:t>'C'</a:t>
            </a:r>
            <a:r>
              <a:rPr sz="900" b="0" i="0">
                <a:solidFill>
                  <a:srgbClr val="D4D4D4"/>
                </a:solidFill>
                <a:latin typeface="Consolas"/>
              </a:rPr>
              <a:t>;</a:t>
            </a:r>
          </a:p>
          <a:p>
            <a:pPr>
              <a:lnSpc>
                <a:spcPts val="1360"/>
              </a:lnSpc>
            </a:pPr>
            <a:r>
              <a:rPr sz="900" b="0" i="0">
                <a:solidFill>
                  <a:srgbClr val="D4D4D4"/>
                </a:solidFill>
                <a:latin typeface="Consolas"/>
              </a:rPr>
              <a:t>    </a:t>
            </a:r>
            <a:r>
              <a:rPr sz="900" b="0" i="0">
                <a:solidFill>
                  <a:srgbClr val="569CD6"/>
                </a:solidFill>
                <a:latin typeface="Consolas"/>
              </a:rPr>
              <a:t>return</a:t>
            </a:r>
            <a:r>
              <a:rPr sz="9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900" b="0" i="0">
                <a:solidFill>
                  <a:srgbClr val="CE9178"/>
                </a:solidFill>
                <a:latin typeface="Consolas"/>
              </a:rPr>
              <a:t>'F'</a:t>
            </a:r>
            <a:r>
              <a:rPr sz="900" b="0" i="0">
                <a:solidFill>
                  <a:srgbClr val="D4D4D4"/>
                </a:solidFill>
                <a:latin typeface="Consolas"/>
              </a:rPr>
              <a:t>;</a:t>
            </a:r>
          </a:p>
          <a:p>
            <a:pPr>
              <a:lnSpc>
                <a:spcPts val="1360"/>
              </a:lnSpc>
            </a:pPr>
            <a:r>
              <a:rPr sz="900" b="0" i="0">
                <a:solidFill>
                  <a:srgbClr val="D4D4D4"/>
                </a:solidFill>
                <a:latin typeface="Consolas"/>
              </a:rPr>
              <a:t>}</a:t>
            </a:r>
          </a:p>
          <a:p>
            <a:pPr>
              <a:lnSpc>
                <a:spcPts val="1360"/>
              </a:lnSpc>
            </a:pPr>
            <a:r>
              <a:rPr sz="900" b="0" i="0">
                <a:solidFill>
                  <a:srgbClr val="569CD6"/>
                </a:solidFill>
                <a:latin typeface="Consolas"/>
              </a:rPr>
              <a:t>int</a:t>
            </a:r>
            <a:r>
              <a:rPr sz="9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900" b="0" i="0">
                <a:solidFill>
                  <a:srgbClr val="DCDCAA"/>
                </a:solidFill>
                <a:latin typeface="Consolas"/>
              </a:rPr>
              <a:t>main</a:t>
            </a:r>
            <a:r>
              <a:rPr sz="900" b="0" i="0">
                <a:solidFill>
                  <a:srgbClr val="D4D4D4"/>
                </a:solidFill>
                <a:latin typeface="Consolas"/>
              </a:rPr>
              <a:t>()</a:t>
            </a:r>
            <a:r>
              <a:rPr sz="9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900" b="0" i="0">
                <a:solidFill>
                  <a:srgbClr val="D4D4D4"/>
                </a:solidFill>
                <a:latin typeface="Consolas"/>
              </a:rPr>
              <a:t>{</a:t>
            </a:r>
          </a:p>
          <a:p>
            <a:pPr>
              <a:lnSpc>
                <a:spcPts val="1360"/>
              </a:lnSpc>
            </a:pPr>
            <a:r>
              <a:rPr sz="900" b="0" i="0">
                <a:solidFill>
                  <a:srgbClr val="D4D4D4"/>
                </a:solidFill>
                <a:latin typeface="Consolas"/>
              </a:rPr>
              <a:t>    </a:t>
            </a:r>
            <a:r>
              <a:rPr sz="900" b="0" i="0">
                <a:solidFill>
                  <a:srgbClr val="569CD6"/>
                </a:solidFill>
                <a:latin typeface="Consolas"/>
              </a:rPr>
              <a:t>double</a:t>
            </a:r>
            <a:r>
              <a:rPr sz="9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900" b="0" i="0">
                <a:solidFill>
                  <a:srgbClr val="D4D4D4"/>
                </a:solidFill>
                <a:latin typeface="Consolas"/>
              </a:rPr>
              <a:t>grades</a:t>
            </a:r>
            <a:r>
              <a:rPr sz="900" b="0" i="0">
                <a:solidFill>
                  <a:srgbClr val="D4D4D4"/>
                </a:solidFill>
                <a:latin typeface="Consolas"/>
              </a:rPr>
              <a:t>[</a:t>
            </a:r>
            <a:r>
              <a:rPr sz="900" b="0" i="0">
                <a:solidFill>
                  <a:srgbClr val="B5CEA8"/>
                </a:solidFill>
                <a:latin typeface="Consolas"/>
              </a:rPr>
              <a:t>3</a:t>
            </a:r>
            <a:r>
              <a:rPr sz="900" b="0" i="0">
                <a:solidFill>
                  <a:srgbClr val="D4D4D4"/>
                </a:solidFill>
                <a:latin typeface="Consolas"/>
              </a:rPr>
              <a:t>]</a:t>
            </a:r>
            <a:r>
              <a:rPr sz="9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900" b="0" i="0">
                <a:solidFill>
                  <a:srgbClr val="D4D4D4"/>
                </a:solidFill>
                <a:latin typeface="Consolas"/>
              </a:rPr>
              <a:t>=</a:t>
            </a:r>
            <a:r>
              <a:rPr sz="9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900" b="0" i="0">
                <a:solidFill>
                  <a:srgbClr val="D4D4D4"/>
                </a:solidFill>
                <a:latin typeface="Consolas"/>
              </a:rPr>
              <a:t>{</a:t>
            </a:r>
            <a:r>
              <a:rPr sz="900" b="0" i="0">
                <a:solidFill>
                  <a:srgbClr val="B5CEA8"/>
                </a:solidFill>
                <a:latin typeface="Consolas"/>
              </a:rPr>
              <a:t>88</a:t>
            </a:r>
            <a:r>
              <a:rPr sz="900" b="0" i="0">
                <a:solidFill>
                  <a:srgbClr val="D4D4D4"/>
                </a:solidFill>
                <a:latin typeface="Consolas"/>
              </a:rPr>
              <a:t>,</a:t>
            </a:r>
            <a:r>
              <a:rPr sz="9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900" b="0" i="0">
                <a:solidFill>
                  <a:srgbClr val="B5CEA8"/>
                </a:solidFill>
                <a:latin typeface="Consolas"/>
              </a:rPr>
              <a:t>92</a:t>
            </a:r>
            <a:r>
              <a:rPr sz="900" b="0" i="0">
                <a:solidFill>
                  <a:srgbClr val="D4D4D4"/>
                </a:solidFill>
                <a:latin typeface="Consolas"/>
              </a:rPr>
              <a:t>,</a:t>
            </a:r>
            <a:r>
              <a:rPr sz="9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900" b="0" i="0">
                <a:solidFill>
                  <a:srgbClr val="B5CEA8"/>
                </a:solidFill>
                <a:latin typeface="Consolas"/>
              </a:rPr>
              <a:t>79</a:t>
            </a:r>
            <a:r>
              <a:rPr sz="900" b="0" i="0">
                <a:solidFill>
                  <a:srgbClr val="D4D4D4"/>
                </a:solidFill>
                <a:latin typeface="Consolas"/>
              </a:rPr>
              <a:t>};</a:t>
            </a:r>
          </a:p>
          <a:p>
            <a:pPr>
              <a:lnSpc>
                <a:spcPts val="1360"/>
              </a:lnSpc>
            </a:pPr>
            <a:r>
              <a:rPr sz="900" b="0" i="0">
                <a:solidFill>
                  <a:srgbClr val="D4D4D4"/>
                </a:solidFill>
                <a:latin typeface="Consolas"/>
              </a:rPr>
              <a:t>    </a:t>
            </a:r>
            <a:r>
              <a:rPr sz="900" b="0" i="0">
                <a:solidFill>
                  <a:srgbClr val="569CD6"/>
                </a:solidFill>
                <a:latin typeface="Consolas"/>
              </a:rPr>
              <a:t>double</a:t>
            </a:r>
            <a:r>
              <a:rPr sz="9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900" b="0" i="0">
                <a:solidFill>
                  <a:srgbClr val="D4D4D4"/>
                </a:solidFill>
                <a:latin typeface="Consolas"/>
              </a:rPr>
              <a:t>avg</a:t>
            </a:r>
            <a:r>
              <a:rPr sz="9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900" b="0" i="0">
                <a:solidFill>
                  <a:srgbClr val="D4D4D4"/>
                </a:solidFill>
                <a:latin typeface="Consolas"/>
              </a:rPr>
              <a:t>=</a:t>
            </a:r>
            <a:r>
              <a:rPr sz="9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900" b="0" i="0">
                <a:solidFill>
                  <a:srgbClr val="DCDCAA"/>
                </a:solidFill>
                <a:latin typeface="Consolas"/>
              </a:rPr>
              <a:t>calculateAverage</a:t>
            </a:r>
            <a:r>
              <a:rPr sz="900" b="0" i="0">
                <a:solidFill>
                  <a:srgbClr val="D4D4D4"/>
                </a:solidFill>
                <a:latin typeface="Consolas"/>
              </a:rPr>
              <a:t>(</a:t>
            </a:r>
            <a:r>
              <a:rPr sz="900" b="0" i="0">
                <a:solidFill>
                  <a:srgbClr val="D4D4D4"/>
                </a:solidFill>
                <a:latin typeface="Consolas"/>
              </a:rPr>
              <a:t>grades</a:t>
            </a:r>
            <a:r>
              <a:rPr sz="900" b="0" i="0">
                <a:solidFill>
                  <a:srgbClr val="D4D4D4"/>
                </a:solidFill>
                <a:latin typeface="Consolas"/>
              </a:rPr>
              <a:t>,</a:t>
            </a:r>
            <a:r>
              <a:rPr sz="9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900" b="0" i="0">
                <a:solidFill>
                  <a:srgbClr val="B5CEA8"/>
                </a:solidFill>
                <a:latin typeface="Consolas"/>
              </a:rPr>
              <a:t>3</a:t>
            </a:r>
            <a:r>
              <a:rPr sz="900" b="0" i="0">
                <a:solidFill>
                  <a:srgbClr val="D4D4D4"/>
                </a:solidFill>
                <a:latin typeface="Consolas"/>
              </a:rPr>
              <a:t>);</a:t>
            </a:r>
          </a:p>
          <a:p>
            <a:pPr>
              <a:lnSpc>
                <a:spcPts val="1360"/>
              </a:lnSpc>
            </a:pPr>
            <a:r>
              <a:rPr sz="900" b="0" i="0">
                <a:solidFill>
                  <a:srgbClr val="D4D4D4"/>
                </a:solidFill>
                <a:latin typeface="Consolas"/>
              </a:rPr>
              <a:t>    </a:t>
            </a:r>
            <a:r>
              <a:rPr sz="900" b="0" i="0">
                <a:solidFill>
                  <a:srgbClr val="D4D4D4"/>
                </a:solidFill>
                <a:latin typeface="Consolas"/>
              </a:rPr>
              <a:t>cout</a:t>
            </a:r>
            <a:r>
              <a:rPr sz="9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900" b="0" i="0">
                <a:solidFill>
                  <a:srgbClr val="D4D4D4"/>
                </a:solidFill>
                <a:latin typeface="Consolas"/>
              </a:rPr>
              <a:t>&lt;&lt;</a:t>
            </a:r>
            <a:r>
              <a:rPr sz="9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900" b="0" i="0">
                <a:solidFill>
                  <a:srgbClr val="D4D4D4"/>
                </a:solidFill>
                <a:latin typeface="Consolas"/>
              </a:rPr>
              <a:t>avg</a:t>
            </a:r>
            <a:r>
              <a:rPr sz="9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900" b="0" i="0">
                <a:solidFill>
                  <a:srgbClr val="D4D4D4"/>
                </a:solidFill>
                <a:latin typeface="Consolas"/>
              </a:rPr>
              <a:t>&lt;&lt;</a:t>
            </a:r>
            <a:r>
              <a:rPr sz="9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900" b="0" i="0">
                <a:solidFill>
                  <a:srgbClr val="CE9178"/>
                </a:solidFill>
                <a:latin typeface="Consolas"/>
              </a:rPr>
              <a:t>" "</a:t>
            </a:r>
            <a:r>
              <a:rPr sz="9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900" b="0" i="0">
                <a:solidFill>
                  <a:srgbClr val="D4D4D4"/>
                </a:solidFill>
                <a:latin typeface="Consolas"/>
              </a:rPr>
              <a:t>&lt;&lt;</a:t>
            </a:r>
            <a:r>
              <a:rPr sz="9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900" b="0" i="0">
                <a:solidFill>
                  <a:srgbClr val="DCDCAA"/>
                </a:solidFill>
                <a:latin typeface="Consolas"/>
              </a:rPr>
              <a:t>getLetterGrade</a:t>
            </a:r>
            <a:r>
              <a:rPr sz="900" b="0" i="0">
                <a:solidFill>
                  <a:srgbClr val="D4D4D4"/>
                </a:solidFill>
                <a:latin typeface="Consolas"/>
              </a:rPr>
              <a:t>(</a:t>
            </a:r>
            <a:r>
              <a:rPr sz="900" b="0" i="0">
                <a:solidFill>
                  <a:srgbClr val="D4D4D4"/>
                </a:solidFill>
                <a:latin typeface="Consolas"/>
              </a:rPr>
              <a:t>avg</a:t>
            </a:r>
            <a:r>
              <a:rPr sz="900" b="0" i="0">
                <a:solidFill>
                  <a:srgbClr val="D4D4D4"/>
                </a:solidFill>
                <a:latin typeface="Consolas"/>
              </a:rPr>
              <a:t>);</a:t>
            </a:r>
          </a:p>
          <a:p>
            <a:pPr>
              <a:lnSpc>
                <a:spcPts val="1360"/>
              </a:lnSpc>
            </a:pPr>
            <a:r>
              <a:rPr sz="900" b="0" i="0">
                <a:solidFill>
                  <a:srgbClr val="D4D4D4"/>
                </a:solidFill>
                <a:latin typeface="Consolas"/>
              </a:rPr>
              <a:t>    </a:t>
            </a:r>
            <a:r>
              <a:rPr sz="900" b="0" i="0">
                <a:solidFill>
                  <a:srgbClr val="569CD6"/>
                </a:solidFill>
                <a:latin typeface="Consolas"/>
              </a:rPr>
              <a:t>return</a:t>
            </a:r>
            <a:r>
              <a:rPr sz="900" b="0" i="0">
                <a:solidFill>
                  <a:srgbClr val="D4D4D4"/>
                </a:solidFill>
                <a:latin typeface="Consolas"/>
              </a:rPr>
              <a:t> </a:t>
            </a:r>
            <a:r>
              <a:rPr sz="900" b="0" i="0">
                <a:solidFill>
                  <a:srgbClr val="B5CEA8"/>
                </a:solidFill>
                <a:latin typeface="Consolas"/>
              </a:rPr>
              <a:t>0</a:t>
            </a:r>
            <a:r>
              <a:rPr sz="900" b="0" i="0">
                <a:solidFill>
                  <a:srgbClr val="D4D4D4"/>
                </a:solidFill>
                <a:latin typeface="Consolas"/>
              </a:rPr>
              <a:t>;</a:t>
            </a:r>
          </a:p>
          <a:p>
            <a:pPr>
              <a:lnSpc>
                <a:spcPts val="1360"/>
              </a:lnSpc>
            </a:pPr>
            <a:r>
              <a:rPr sz="900" b="0" i="0">
                <a:solidFill>
                  <a:srgbClr val="D4D4D4"/>
                </a:solidFill>
                <a:latin typeface="Consolas"/>
              </a:rPr>
              <a:t>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35240" y="1783080"/>
            <a:ext cx="3977639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sz="1400" b="0" i="0">
                <a:solidFill>
                  <a:srgbClr val="1E1E2E"/>
                </a:solidFill>
                <a:latin typeface="Calibri"/>
              </a:rPr>
              <a:t>Same math and grading logic from Module 3, now split into two named functions.</a:t>
            </a:r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sz="1400" b="0" i="0">
                <a:solidFill>
                  <a:srgbClr val="1E1E2E"/>
                </a:solidFill>
                <a:latin typeface="Calibri"/>
              </a:rPr>
              <a:t>calculateAverage does the math; getLetterGrade makes the decision; main() just calls them.</a:t>
            </a:r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sz="1400" b="0" i="0">
                <a:solidFill>
                  <a:srgbClr val="1E1E2E"/>
                </a:solidFill>
                <a:latin typeface="Calibri"/>
              </a:rPr>
              <a:t>Each function can now be tested or reused on its own, independent of the rest.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5549493"/>
            <a:ext cx="6858000" cy="6583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73152" bIns="73152" wrap="square"/>
          <a:lstStyle/>
          <a:p>
            <a:pPr algn="ctr"/>
            <a:r>
              <a:rPr sz="1000" b="1" i="0">
                <a:solidFill>
                  <a:srgbClr val="0E7C7B"/>
                </a:solidFill>
                <a:latin typeface="Calibri"/>
              </a:rPr>
              <a:t>OUTPUT</a:t>
            </a:r>
          </a:p>
          <a:p>
            <a:r>
              <a:rPr sz="1200" b="0" i="0">
                <a:solidFill>
                  <a:srgbClr val="1E1E2E"/>
                </a:solidFill>
                <a:latin typeface="Consolas"/>
              </a:rPr>
              <a:t>86.3333 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528816"/>
            <a:ext cx="6400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9CA3AF"/>
                </a:solidFill>
                <a:latin typeface="Calibri"/>
              </a:rPr>
              <a:t>C++ FUNDAMENTALS  ·  MODULE 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52881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9CA3AF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0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0A500"/>
                </a:solidFill>
                <a:latin typeface="Calibri"/>
              </a:rPr>
              <a:t>IN-CLASS EXERCISE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F2F2F2"/>
                </a:solidFill>
                <a:latin typeface="Consolas"/>
              </a:rPr>
              <a:t>Add an isPassing() Function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6766560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254000" indent="-254000">
              <a:spcAft>
                <a:spcPts val="1200"/>
              </a:spcAft>
              <a:buSzPct val="100000"/>
              <a:buChar char="▸"/>
            </a:pPr>
            <a:r>
              <a:rPr sz="1800" b="0" i="0">
                <a:solidFill>
                  <a:srgbClr val="F2F2F2"/>
                </a:solidFill>
                <a:latin typeface="Calibri"/>
              </a:rPr>
              <a:t>Write bool isPassing(double average) that returns true or false.</a:t>
            </a:r>
          </a:p>
          <a:p>
            <a:pPr marL="254000" indent="-254000">
              <a:spcAft>
                <a:spcPts val="1200"/>
              </a:spcAft>
              <a:buSzPct val="100000"/>
              <a:buChar char="▸"/>
            </a:pPr>
            <a:r>
              <a:rPr sz="1800" b="0" i="0">
                <a:solidFill>
                  <a:srgbClr val="F2F2F2"/>
                </a:solidFill>
                <a:latin typeface="Calibri"/>
              </a:rPr>
              <a:t>Return true when average is 60 or higher, false otherwise.</a:t>
            </a:r>
          </a:p>
          <a:p>
            <a:pPr marL="254000" indent="-254000">
              <a:spcAft>
                <a:spcPts val="1200"/>
              </a:spcAft>
              <a:buSzPct val="100000"/>
              <a:buChar char="▸"/>
            </a:pPr>
            <a:r>
              <a:rPr sz="1800" b="0" i="0">
                <a:solidFill>
                  <a:srgbClr val="F2F2F2"/>
                </a:solidFill>
                <a:latin typeface="Calibri"/>
              </a:rPr>
              <a:t>Call isPassing() from main() right after computing the average.</a:t>
            </a:r>
          </a:p>
          <a:p>
            <a:pPr marL="254000" indent="-254000">
              <a:spcAft>
                <a:spcPts val="1200"/>
              </a:spcAft>
              <a:buSzPct val="100000"/>
              <a:buChar char="▸"/>
            </a:pPr>
            <a:r>
              <a:rPr sz="1800" b="0" i="0">
                <a:solidFill>
                  <a:srgbClr val="F2F2F2"/>
                </a:solidFill>
                <a:latin typeface="Calibri"/>
              </a:rPr>
              <a:t>Print "PASSING" or "NOT PASSING" next to the letter grade.</a:t>
            </a:r>
          </a:p>
        </p:txBody>
      </p:sp>
      <p:sp>
        <p:nvSpPr>
          <p:cNvPr id="6" name="Rectangle 5"/>
          <p:cNvSpPr/>
          <p:nvPr/>
        </p:nvSpPr>
        <p:spPr>
          <a:xfrm>
            <a:off x="7635240" y="1828800"/>
            <a:ext cx="3977639" cy="2743200"/>
          </a:xfrm>
          <a:prstGeom prst="rect">
            <a:avLst/>
          </a:prstGeom>
          <a:solidFill>
            <a:srgbClr val="2A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0" y="2011680"/>
            <a:ext cx="3566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4EC9B0"/>
                </a:solidFill>
                <a:latin typeface="Calibri"/>
              </a:rPr>
              <a:t>HINTS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0" y="2423160"/>
            <a:ext cx="356616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sz="1350" b="0" i="0">
                <a:solidFill>
                  <a:srgbClr val="D8D8E8"/>
                </a:solidFill>
                <a:latin typeface="Calibri"/>
              </a:rPr>
              <a:t>bool means the function can only return true or false.</a:t>
            </a:r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sz="1350" b="0" i="0">
                <a:solidFill>
                  <a:srgbClr val="D8D8E8"/>
                </a:solidFill>
                <a:latin typeface="Calibri"/>
              </a:rPr>
              <a:t>Reuse the &gt;= comparison operator from Modules 2 and 3.</a:t>
            </a:r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sz="1350" b="0" i="0">
                <a:solidFill>
                  <a:srgbClr val="D8D8E8"/>
                </a:solidFill>
                <a:latin typeface="Calibri"/>
              </a:rPr>
              <a:t>Wrap the call in an if: if (isPassing(avg)) { ... } else { ... }</a:t>
            </a:r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sz="1350" b="0" i="0">
                <a:solidFill>
                  <a:srgbClr val="D8D8E8"/>
                </a:solidFill>
                <a:latin typeface="Calibri"/>
              </a:rPr>
              <a:t>Compile with: g++ main.cpp -o tracker &amp;&amp; ./tracker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528816"/>
            <a:ext cx="6400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8A8AA3"/>
                </a:solidFill>
                <a:latin typeface="Calibri"/>
              </a:rPr>
              <a:t>C++ FUNDAMENTALS  ·  MODULE 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52881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A8AA3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371600" y="-1371600"/>
            <a:ext cx="3657600" cy="3657600"/>
          </a:xfrm>
          <a:prstGeom prst="ellipse">
            <a:avLst/>
          </a:prstGeom>
          <a:solidFill>
            <a:srgbClr val="2A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4EC9B0"/>
                </a:solidFill>
                <a:latin typeface="Calibri"/>
              </a:rPr>
              <a:t>MODULE RECAP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F2F2F2"/>
                </a:solidFill>
                <a:latin typeface="Consolas"/>
              </a:rPr>
              <a:t>Key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9875520" cy="3474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279400" indent="-279400">
              <a:spcAft>
                <a:spcPts val="1600"/>
              </a:spcAft>
              <a:buSzPct val="100000"/>
              <a:buChar char="✓"/>
            </a:pPr>
            <a:r>
              <a:rPr sz="1800" b="0" i="0">
                <a:solidFill>
                  <a:srgbClr val="F2F2F2"/>
                </a:solidFill>
                <a:latin typeface="Calibri"/>
              </a:rPr>
              <a:t>A function has a return type, name, parameter list, and body.</a:t>
            </a:r>
          </a:p>
          <a:p>
            <a:pPr marL="279400" indent="-279400">
              <a:spcAft>
                <a:spcPts val="1600"/>
              </a:spcAft>
              <a:buSzPct val="100000"/>
              <a:buChar char="✓"/>
            </a:pPr>
            <a:r>
              <a:rPr sz="1800" b="0" i="0">
                <a:solidFill>
                  <a:srgbClr val="F2F2F2"/>
                </a:solidFill>
                <a:latin typeface="Calibri"/>
              </a:rPr>
              <a:t>Pass by value copies data in; pass by reference (&amp;) lets a function edit the caller's variable.</a:t>
            </a:r>
          </a:p>
          <a:p>
            <a:pPr marL="279400" indent="-279400">
              <a:spcAft>
                <a:spcPts val="1600"/>
              </a:spcAft>
              <a:buSzPct val="100000"/>
              <a:buChar char="✓"/>
            </a:pPr>
            <a:r>
              <a:rPr sz="1800" b="0" i="0">
                <a:solidFill>
                  <a:srgbClr val="F2F2F2"/>
                </a:solidFill>
                <a:latin typeface="Calibri"/>
              </a:rPr>
              <a:t>Every path through a value-returning function must reach a return statement.</a:t>
            </a:r>
          </a:p>
          <a:p>
            <a:pPr marL="279400" indent="-279400">
              <a:spcAft>
                <a:spcPts val="1600"/>
              </a:spcAft>
              <a:buSzPct val="100000"/>
              <a:buChar char="✓"/>
            </a:pPr>
            <a:r>
              <a:rPr sz="1800" b="0" i="0">
                <a:solidFill>
                  <a:srgbClr val="F2F2F2"/>
                </a:solidFill>
                <a:latin typeface="Calibri"/>
              </a:rPr>
              <a:t>Overloading lets multiple functions share a name with different parameter lists.</a:t>
            </a:r>
          </a:p>
          <a:p>
            <a:pPr marL="279400" indent="-279400">
              <a:spcAft>
                <a:spcPts val="1600"/>
              </a:spcAft>
              <a:buSzPct val="100000"/>
              <a:buChar char="✓"/>
            </a:pPr>
            <a:r>
              <a:rPr sz="1800" b="0" i="0">
                <a:solidFill>
                  <a:srgbClr val="F2F2F2"/>
                </a:solidFill>
                <a:latin typeface="Calibri"/>
              </a:rPr>
              <a:t>Default parameters make an argument optional; local variables beat globals.</a:t>
            </a:r>
          </a:p>
          <a:p>
            <a:pPr marL="279400" indent="-279400">
              <a:spcAft>
                <a:spcPts val="1600"/>
              </a:spcAft>
              <a:buSzPct val="100000"/>
              <a:buChar char="✓"/>
            </a:pPr>
            <a:r>
              <a:rPr sz="1800" b="0" i="0">
                <a:solidFill>
                  <a:srgbClr val="F2F2F2"/>
                </a:solidFill>
                <a:latin typeface="Calibri"/>
              </a:rPr>
              <a:t>We refactored the tracker into calculateAverage and getLetterGrade.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5577840"/>
            <a:ext cx="11064240" cy="777240"/>
          </a:xfrm>
          <a:prstGeom prst="rect">
            <a:avLst/>
          </a:prstGeom>
          <a:solidFill>
            <a:srgbClr val="2A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5577840"/>
            <a:ext cx="105156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200" b="1" i="0">
                <a:solidFill>
                  <a:srgbClr val="F0A500"/>
                </a:solidFill>
                <a:latin typeface="Calibri"/>
              </a:rPr>
              <a:t>NEXT UP   </a:t>
            </a:r>
            <a:r>
              <a:rPr sz="1400" b="0" i="0">
                <a:solidFill>
                  <a:srgbClr val="F2F2F2"/>
                </a:solidFill>
                <a:latin typeface="Calibri"/>
              </a:rPr>
              <a:t>Module 5 — Arrays, Vectors &amp; Strings: storing many values at once.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6400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8A8AA3"/>
                </a:solidFill>
                <a:latin typeface="Calibri"/>
              </a:rPr>
              <a:t>C++ FUNDAMENTALS  ·  MODULE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52881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A8AA3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