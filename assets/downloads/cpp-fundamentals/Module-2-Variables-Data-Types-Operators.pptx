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2A2A3D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389120"/>
            <a:ext cx="2743200" cy="2743200"/>
          </a:xfrm>
          <a:prstGeom prst="ellipse">
            <a:avLst/>
          </a:prstGeom>
          <a:solidFill>
            <a:srgbClr val="2A2A3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STUDENT GRADE &amp; COURSE TRACKER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Variables, Data Types &amp; Operators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your program a memory - storing, naming, and computing with values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6035040"/>
            <a:ext cx="2743200" cy="0"/>
          </a:xfrm>
          <a:prstGeom prst="line">
            <a:avLst/>
          </a:prstGeom>
          <a:noFill/>
          <a:ln w="25400">
            <a:solidFill>
              <a:srgbClr val="4EC9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College C++ Programming — Intro Sequence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MODULE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84048" cy="384048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664208"/>
            <a:ext cx="102412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variables exist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143000" y="2217420"/>
            <a:ext cx="960120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308860"/>
            <a:ext cx="384048" cy="38404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088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2235708"/>
            <a:ext cx="102412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data types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143000" y="2788920"/>
            <a:ext cx="960120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880360"/>
            <a:ext cx="384048" cy="384048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2807208"/>
            <a:ext cx="102412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Declaring and initializing variables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143000" y="3360420"/>
            <a:ext cx="960120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451860"/>
            <a:ext cx="384048" cy="38404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4518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" y="3378708"/>
            <a:ext cx="102412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rules and constants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143000" y="3931920"/>
            <a:ext cx="960120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023360"/>
            <a:ext cx="384048" cy="384048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" y="3950208"/>
            <a:ext cx="102412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operators and the division gotcha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1143000" y="4503420"/>
            <a:ext cx="960120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594860"/>
            <a:ext cx="384048" cy="38404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5948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43000" y="4521708"/>
            <a:ext cx="102412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assignment operators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1143000" y="5074920"/>
            <a:ext cx="960120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5166360"/>
            <a:ext cx="384048" cy="384048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5166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143000" y="5093208"/>
            <a:ext cx="102412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and logical operators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1143000" y="5646420"/>
            <a:ext cx="960120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5737860"/>
            <a:ext cx="384048" cy="38404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57378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143000" y="5664708"/>
            <a:ext cx="102412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input with cin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MODULE 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BASICS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Variables Exist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A variable is a named, labeled box in the computer's memory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It holds a value your program can read, use, and change</a:t>
            </a:r>
            <a:endParaRPr lang="en-US" sz="17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Without variables, every program would be hard-coded and static</a:t>
            </a:r>
            <a:endParaRPr lang="en-US" sz="17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500" dirty="0">
                <a:solidFill>
                  <a:srgbClr val="6B7280"/>
                </a:solidFill>
              </a:rPr>
              <a:t>No way to store a student's score</a:t>
            </a:r>
            <a:endParaRPr lang="en-US" sz="1700" dirty="0"/>
          </a:p>
          <a:p>
            <a:pPr lvl="1" marL="457200" indent="-2286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6B7280"/>
                </a:solidFill>
              </a:rPr>
              <a:t>No way to remember anything between lines of code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The compiler reserves memory and lets you refer to it by name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Example: store 87.5 once in pointsEarned instead of retyping it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MODULE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Fundamental Data Types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Every variable has a type that determines what it can store</a:t>
            </a:r>
            <a:endParaRPr lang="en-US" sz="17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C++ has several built-in (primitive) types</a:t>
            </a:r>
            <a:endParaRPr lang="en-US" sz="17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500" dirty="0">
                <a:solidFill>
                  <a:srgbClr val="6B7280"/>
                </a:solidFill>
              </a:rPr>
              <a:t>int - whole numbers, e.g. 42</a:t>
            </a:r>
            <a:endParaRPr lang="en-US" sz="17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500" dirty="0">
                <a:solidFill>
                  <a:srgbClr val="6B7280"/>
                </a:solidFill>
              </a:rPr>
              <a:t>double - decimal numbers with high precision, e.g. 3.75</a:t>
            </a:r>
            <a:endParaRPr lang="en-US" sz="17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500" dirty="0">
                <a:solidFill>
                  <a:srgbClr val="6B7280"/>
                </a:solidFill>
              </a:rPr>
              <a:t>float - decimal numbers, less precision than double</a:t>
            </a:r>
            <a:endParaRPr lang="en-US" sz="17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500" dirty="0">
                <a:solidFill>
                  <a:srgbClr val="6B7280"/>
                </a:solidFill>
              </a:rPr>
              <a:t>char - a single character in single quotes, e.g. 'A'</a:t>
            </a:r>
            <a:endParaRPr lang="en-US" sz="1700" dirty="0"/>
          </a:p>
          <a:p>
            <a:pPr lvl="1" marL="457200" indent="-2286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6B7280"/>
                </a:solidFill>
              </a:rPr>
              <a:t>bool - true or false only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string - text made of multiple characters, e.g. "Ava"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string is not built-in - it requires #include &lt;string&gt;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Choosing the right type matters for accuracy and memory use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452360" y="1691640"/>
            <a:ext cx="3977640" cy="292608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26680" y="1874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26680" y="224028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double for anything involving grades, percentages, or money.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MODULE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Declaring and Initializing Variables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58000" cy="2237232"/>
          </a:xfrm>
          <a:prstGeom prst="rect">
            <a:avLst/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6858000" cy="292608"/>
          </a:xfrm>
          <a:prstGeom prst="rect">
            <a:avLst/>
          </a:prstGeom>
          <a:solidFill>
            <a:srgbClr val="2D2D30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7373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932688" y="17373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" y="17373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164592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B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main.cpp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029968"/>
            <a:ext cx="6309360" cy="1734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gpa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3.75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passed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"Ava"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is age "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endl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635240" y="1645920"/>
            <a:ext cx="3977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General syntax: typeName variableName = value;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Declaring creates the variable; initializing gives it a starting value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A declared-but-uninitialized variable holds garbage, not zero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Always initialize variables to avoid unpredictable bugs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string values use double quotes; char values use single quotes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066032"/>
            <a:ext cx="685800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C7B"/>
                </a:solidFill>
              </a:rPr>
              <a:t>OUTPUT</a:t>
            </a:r>
            <a:endParaRPr lang="en-US" sz="1000" dirty="0"/>
          </a:p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 is age 20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MODULE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HABITS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Naming Rules and Constants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49240" cy="4480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91640"/>
            <a:ext cx="5349240" cy="731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659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Naming Rules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2514600"/>
            <a:ext cx="4709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B7280"/>
                </a:solidFill>
              </a:rPr>
              <a:t>Must start with a letter or underscore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B7280"/>
                </a:solidFill>
              </a:rPr>
              <a:t>Letters, digits, underscores only - no spaces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B7280"/>
                </a:solidFill>
              </a:rPr>
              <a:t>Case-sensitive: score and Score differ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B7280"/>
                </a:solidFill>
              </a:rPr>
              <a:t>Cannot reuse reserved keywords (int, return...)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B7280"/>
                </a:solidFill>
              </a:rPr>
              <a:t>Convention: camelCase, e.g. pointsEarned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B7280"/>
                </a:solidFill>
              </a:rPr>
              <a:t>Use meaningful names, not x or tmp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349240" cy="4480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1691640"/>
            <a:ext cx="5349240" cy="73152"/>
          </a:xfrm>
          <a:prstGeom prst="rect">
            <a:avLst/>
          </a:prstGeom>
          <a:solidFill>
            <a:srgbClr val="B36F00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9659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Constants (const)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583680" y="2514600"/>
            <a:ext cx="4709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B7280"/>
                </a:solidFill>
              </a:rPr>
              <a:t>const locks a variable's value after initialization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B7280"/>
                </a:solidFill>
              </a:rPr>
              <a:t>const double PASSING_GRADE = 60.0;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B7280"/>
                </a:solidFill>
              </a:rPr>
              <a:t>Changing it later is a compile error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B7280"/>
                </a:solidFill>
              </a:rPr>
              <a:t>Convention: ALL_CAPS with underscores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B7280"/>
                </a:solidFill>
              </a:rPr>
              <a:t>Avoids "magic numbers" scattered through code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B7280"/>
                </a:solidFill>
              </a:rPr>
              <a:t>Makes intent clear and code easier to update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MODULE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Arithmetic Operators and the Division Gotcha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58000" cy="3209544"/>
          </a:xfrm>
          <a:prstGeom prst="rect">
            <a:avLst/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6858000" cy="292608"/>
          </a:xfrm>
          <a:prstGeom prst="rect">
            <a:avLst/>
          </a:prstGeom>
          <a:solidFill>
            <a:srgbClr val="2D2D30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7373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932688" y="17373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" y="17373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164592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B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main.cpp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029968"/>
            <a:ext cx="6309360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wholeScore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wholeScore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endl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3, not 3.5!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wholeScore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endl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 (remainder)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7.0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2.0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endl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3.5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static_cast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endl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35240" y="1645920"/>
            <a:ext cx="3977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+  -  *  /  % are the five arithmetic operators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% (modulo) returns the remainder of integer division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int / int always truncates - it drops the decimal part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7 / 2 gives 3, not 3.5, because both operands are int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Fix: make at least one operand a double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static_cast&lt;double&gt;(x) explicitly converts x before dividing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This gotcha matters anywhere you compute percentages or averages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5038344"/>
            <a:ext cx="6858000" cy="12618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C7B"/>
                </a:solidFill>
              </a:rPr>
              <a:t>OUTPUT</a:t>
            </a:r>
            <a:endParaRPr lang="en-US" sz="1000" dirty="0"/>
          </a:p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3.5</a:t>
            </a:r>
            <a:endParaRPr lang="en-US" sz="1000" dirty="0"/>
          </a:p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MODULE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SHORTHAND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Compound Assignment Operators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Compound operators combine an operation with assignment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score += 5;  is shorthand for  score = score + 5;</a:t>
            </a:r>
            <a:endParaRPr lang="en-US" sz="17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The full set mirrors the arithmetic operators</a:t>
            </a:r>
            <a:endParaRPr lang="en-US" sz="17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500" dirty="0">
                <a:solidFill>
                  <a:srgbClr val="6B7280"/>
                </a:solidFill>
              </a:rPr>
              <a:t>+=  add and assign</a:t>
            </a:r>
            <a:endParaRPr lang="en-US" sz="17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500" dirty="0">
                <a:solidFill>
                  <a:srgbClr val="6B7280"/>
                </a:solidFill>
              </a:rPr>
              <a:t>-=  subtract and assign</a:t>
            </a:r>
            <a:endParaRPr lang="en-US" sz="17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500" dirty="0">
                <a:solidFill>
                  <a:srgbClr val="6B7280"/>
                </a:solidFill>
              </a:rPr>
              <a:t>*=  multiply and assign</a:t>
            </a:r>
            <a:endParaRPr lang="en-US" sz="1700" dirty="0"/>
          </a:p>
          <a:p>
            <a:pPr lvl="1" marL="457200" indent="-228600">
              <a:spcAft>
                <a:spcPts val="400"/>
              </a:spcAft>
              <a:buSzPct val="100000"/>
              <a:buChar char="–"/>
            </a:pPr>
            <a:r>
              <a:rPr lang="en-US" sz="1500" dirty="0">
                <a:solidFill>
                  <a:srgbClr val="6B7280"/>
                </a:solidFill>
              </a:rPr>
              <a:t>/=  divide and assign</a:t>
            </a:r>
            <a:endParaRPr lang="en-US" sz="1700" dirty="0"/>
          </a:p>
          <a:p>
            <a:pPr lvl="1" marL="457200" indent="-2286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6B7280"/>
                </a:solidFill>
              </a:rPr>
              <a:t>%=  modulo and assign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Handy for running totals, like adding up quiz scores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1E2E"/>
                </a:solidFill>
              </a:rPr>
              <a:t>The same integer-division rules still apply inside them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MODULE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Relational and Logical Operators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49240" cy="4480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91640"/>
            <a:ext cx="5349240" cy="731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659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Relational Operators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2514600"/>
            <a:ext cx="4709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B7280"/>
                </a:solidFill>
              </a:rPr>
              <a:t>==  equal to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B7280"/>
                </a:solidFill>
              </a:rPr>
              <a:t>!=  not equal to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B7280"/>
                </a:solidFill>
              </a:rPr>
              <a:t>&gt;   greater than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B7280"/>
                </a:solidFill>
              </a:rPr>
              <a:t>&lt;   less than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B7280"/>
                </a:solidFill>
              </a:rPr>
              <a:t>&gt;=  greater than or equal to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B7280"/>
                </a:solidFill>
              </a:rPr>
              <a:t>&lt;=  less than or equal to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B7280"/>
                </a:solidFill>
              </a:rPr>
              <a:t>Result is always a bool: true or false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349240" cy="4480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1691640"/>
            <a:ext cx="5349240" cy="73152"/>
          </a:xfrm>
          <a:prstGeom prst="rect">
            <a:avLst/>
          </a:prstGeom>
          <a:solidFill>
            <a:srgbClr val="B36F00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9659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Logical Operators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583680" y="2514600"/>
            <a:ext cx="4709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B7280"/>
                </a:solidFill>
              </a:rPr>
              <a:t>&amp;&amp;  AND - both sides must be true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B7280"/>
                </a:solidFill>
              </a:rPr>
              <a:t>||  OR - at least one side must be true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B7280"/>
                </a:solidFill>
              </a:rPr>
              <a:t>!   NOT - flips true to false, or the reverse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B7280"/>
                </a:solidFill>
              </a:rPr>
              <a:t>Example: score &gt;= 60 &amp;&amp; score &lt;= 100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B7280"/>
                </a:solidFill>
              </a:rPr>
              <a:t>These combine conditions for decisions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B7280"/>
                </a:solidFill>
              </a:rPr>
              <a:t>Module 3 uses these to build if statements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MODULE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Getting Input with cin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858000" cy="2941320"/>
          </a:xfrm>
          <a:prstGeom prst="rect">
            <a:avLst/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6858000" cy="292608"/>
          </a:xfrm>
          <a:prstGeom prst="rect">
            <a:avLst/>
          </a:prstGeom>
          <a:solidFill>
            <a:srgbClr val="2D2D30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7373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932688" y="17373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" y="17373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164592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B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main.cpp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029968"/>
            <a:ext cx="630936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studentId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"Enter student ID: "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cin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studentId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"Enter grade: "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cin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"ID "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studentId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scored "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endl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635240" y="1645920"/>
            <a:ext cx="3977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cin ("see-in") reads input typed at the keyboard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The &gt;&gt; operator sends the typed value into a variable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The variable's type controls how the text is interpreted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cin &gt;&gt; stops reading at the first whitespace character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That makes it unreliable for full names like "Ava Thompson"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getline() reads a whole line instead - covered later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770120"/>
            <a:ext cx="6858000" cy="106070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C7B"/>
                </a:solidFill>
              </a:rPr>
              <a:t>OUTPUT</a:t>
            </a:r>
            <a:endParaRPr lang="en-US" sz="1000" dirty="0"/>
          </a:p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student ID: 1024</a:t>
            </a:r>
            <a:endParaRPr lang="en-US" sz="1000" dirty="0"/>
          </a:p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grade: 87.5</a:t>
            </a:r>
            <a:endParaRPr lang="en-US" sz="1000" dirty="0"/>
          </a:p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1024 scored 87.5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MODULE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"/>
            <a:ext cx="2834640" cy="36576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65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BUILD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Build: Storing One Student's Percentage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858000" cy="3863340"/>
          </a:xfrm>
          <a:prstGeom prst="rect">
            <a:avLst/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783080"/>
            <a:ext cx="6858000" cy="292608"/>
          </a:xfrm>
          <a:prstGeom prst="rect">
            <a:avLst/>
          </a:prstGeom>
          <a:solidFill>
            <a:srgbClr val="2D2D30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187452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8"/>
          <p:cNvSpPr/>
          <p:nvPr/>
        </p:nvSpPr>
        <p:spPr>
          <a:xfrm>
            <a:off x="932688" y="187452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1152144" y="187452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178308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B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main.cpp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167128"/>
            <a:ext cx="6309360" cy="3360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iostream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"Ava Thompson"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1024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pointsEarned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87.5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pointsPossible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100.0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percentage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pointsEarned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pointsPossible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(ID 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"): 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percentage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endl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635240" y="1783080"/>
            <a:ext cx="3977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pointsEarned and pointsPossible are declared as double, not int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That guarantees real division, avoiding the integer-division gotcha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Parentheses compute the fraction before multiplying by 100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Right now this handles exactly one hard-coded student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E"/>
                </a:solidFill>
              </a:rPr>
              <a:t>Module 3 will loop this same math over many students and grades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MODULE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EXERCISE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Exercise: Add a Second Student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67665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▸"/>
            </a:pPr>
            <a:r>
              <a:rPr lang="en-US" sz="1800" dirty="0">
                <a:solidFill>
                  <a:srgbClr val="F2F2F2"/>
                </a:solidFill>
              </a:rPr>
              <a:t>Declare variables for a second student: name, id, pointsEarned, pointsPossible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▸"/>
            </a:pPr>
            <a:r>
              <a:rPr lang="en-US" sz="1800" dirty="0">
                <a:solidFill>
                  <a:srgbClr val="F2F2F2"/>
                </a:solidFill>
              </a:rPr>
              <a:t>Use a single-word placeholder name (e.g. "Marcus") for now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▸"/>
            </a:pPr>
            <a:r>
              <a:rPr lang="en-US" sz="1800" dirty="0">
                <a:solidFill>
                  <a:srgbClr val="F2F2F2"/>
                </a:solidFill>
              </a:rPr>
              <a:t>Use cin to read at least one value from the user, such as pointsEarned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▸"/>
            </a:pPr>
            <a:r>
              <a:rPr lang="en-US" sz="1800" dirty="0">
                <a:solidFill>
                  <a:srgbClr val="F2F2F2"/>
                </a:solidFill>
              </a:rPr>
              <a:t>Compute and print that student's percentage, formatted like the project example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▸"/>
            </a:pPr>
            <a:r>
              <a:rPr lang="en-US" sz="1800" dirty="0">
                <a:solidFill>
                  <a:srgbClr val="F2F2F2"/>
                </a:solidFill>
              </a:rPr>
              <a:t>Print both students' percentages, one per line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35240" y="1828800"/>
            <a:ext cx="3977640" cy="2743200"/>
          </a:xfrm>
          <a:prstGeom prst="rect">
            <a:avLst/>
          </a:prstGeom>
          <a:solidFill>
            <a:srgbClr val="2A2A3D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0" y="2011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63840" y="2423160"/>
            <a:ext cx="3566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8D8E8"/>
                </a:solidFill>
              </a:rPr>
              <a:t>Force real division with static_cast&lt;double&gt;(...), or use literals like 100.0 instead of 100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8D8E8"/>
                </a:solidFill>
              </a:rPr>
              <a:t>Remember cin &gt;&gt; stops at the first space - a two-word name only captures one word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8D8E8"/>
                </a:solidFill>
              </a:rPr>
              <a:t>Reuse the same formula: (pointsEarned / pointsPossible) * 100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MODULE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2A2A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RECAP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875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600"/>
              </a:spcAft>
              <a:buSzPct val="100000"/>
              <a:buChar char="✓"/>
            </a:pPr>
            <a:r>
              <a:rPr lang="en-US" sz="1800" dirty="0">
                <a:solidFill>
                  <a:srgbClr val="F2F2F2"/>
                </a:solidFill>
              </a:rPr>
              <a:t>Variables are named memory locations with a type: int, double, char, bool, string</a:t>
            </a:r>
            <a:endParaRPr lang="en-US" sz="1800" dirty="0"/>
          </a:p>
          <a:p>
            <a:pPr marL="279400" indent="-279400">
              <a:spcAft>
                <a:spcPts val="1600"/>
              </a:spcAft>
              <a:buSzPct val="100000"/>
              <a:buChar char="✓"/>
            </a:pPr>
            <a:r>
              <a:rPr lang="en-US" sz="1800" dirty="0">
                <a:solidFill>
                  <a:srgbClr val="F2F2F2"/>
                </a:solidFill>
              </a:rPr>
              <a:t>Declare and initialize with typeName variableName = value;</a:t>
            </a:r>
            <a:endParaRPr lang="en-US" sz="1800" dirty="0"/>
          </a:p>
          <a:p>
            <a:pPr marL="279400" indent="-279400">
              <a:spcAft>
                <a:spcPts val="1600"/>
              </a:spcAft>
              <a:buSzPct val="100000"/>
              <a:buChar char="✓"/>
            </a:pPr>
            <a:r>
              <a:rPr lang="en-US" sz="1800" dirty="0">
                <a:solidFill>
                  <a:srgbClr val="F2F2F2"/>
                </a:solidFill>
              </a:rPr>
              <a:t>int / int truncates - use double or static_cast for real division</a:t>
            </a:r>
            <a:endParaRPr lang="en-US" sz="1800" dirty="0"/>
          </a:p>
          <a:p>
            <a:pPr marL="279400" indent="-279400">
              <a:spcAft>
                <a:spcPts val="1600"/>
              </a:spcAft>
              <a:buSzPct val="100000"/>
              <a:buChar char="✓"/>
            </a:pPr>
            <a:r>
              <a:rPr lang="en-US" sz="1800" dirty="0">
                <a:solidFill>
                  <a:srgbClr val="F2F2F2"/>
                </a:solidFill>
              </a:rPr>
              <a:t>Arithmetic, compound, relational, and logical operators manipulate and compare values</a:t>
            </a:r>
            <a:endParaRPr lang="en-US" sz="1800" dirty="0"/>
          </a:p>
          <a:p>
            <a:pPr marL="279400" indent="-279400">
              <a:spcAft>
                <a:spcPts val="1600"/>
              </a:spcAft>
              <a:buSzPct val="100000"/>
              <a:buChar char="✓"/>
            </a:pPr>
            <a:r>
              <a:rPr lang="en-US" sz="1800" dirty="0">
                <a:solidFill>
                  <a:srgbClr val="F2F2F2"/>
                </a:solidFill>
              </a:rPr>
              <a:t>cin &gt;&gt; reads keyboard input but stops at whitespace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5577840"/>
            <a:ext cx="11064240" cy="777240"/>
          </a:xfrm>
          <a:prstGeom prst="rect">
            <a:avLst/>
          </a:prstGeom>
          <a:solidFill>
            <a:srgbClr val="2A2A3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55778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0A500"/>
                </a:solidFill>
              </a:rPr>
              <a:t>NEXT UP   </a:t>
            </a:r>
            <a:pPr indent="0" marL="0">
              <a:buNone/>
            </a:pPr>
            <a:r>
              <a:rPr lang="en-US" sz="1400" i="1" dirty="0">
                <a:solidFill>
                  <a:srgbClr val="F2F2F2"/>
                </a:solidFill>
              </a:rPr>
              <a:t>Module 3 - Control Flow: if/else decisions and loops that let the tracker average many grades for one student.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 ·  MODULE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2: Variables, Data Types &amp; Operators</dc:title>
  <dc:subject>PptxGenJS Presentation</dc:subject>
  <dc:creator>C++ Fundamentals Course</dc:creator>
  <cp:lastModifiedBy>C++ Fundamentals Course</cp:lastModifiedBy>
  <cp:revision>1</cp:revision>
  <dcterms:created xsi:type="dcterms:W3CDTF">2026-08-29T18:23:46Z</dcterms:created>
  <dcterms:modified xsi:type="dcterms:W3CDTF">2026-08-29T18:23:46Z</dcterms:modified>
</cp:coreProperties>
</file>