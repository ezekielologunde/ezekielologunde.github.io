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4EC9B0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463040"/>
            <a:ext cx="4114800" cy="41148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389120"/>
            <a:ext cx="2743200" cy="27432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STUDENT GRADE &amp; COURSE TRACKER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874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F0A5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37744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Arrays, Vectors &amp; Strings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977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7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Storing a whole class, not just one student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22960" y="6035040"/>
            <a:ext cx="2743200" cy="0"/>
          </a:xfrm>
          <a:prstGeom prst="line">
            <a:avLst/>
          </a:prstGeom>
          <a:noFill/>
          <a:ln w="25400">
            <a:solidFill>
              <a:srgbClr val="4EC9B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72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College C++ Programming — Intro Sequence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THIS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We'll Cover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664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need collections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143000" y="2217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308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308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2235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C-style arrays and their limits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143000" y="2788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880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2807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Introducing std::vector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1143000" y="3360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451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51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43000" y="3378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operations: push_back, size, 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143000" y="3931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4023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950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std::string basics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1143000" y="4503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4594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594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43000" y="4521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collections: vector of vectors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1143000" y="50749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4EC9B0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143000" y="50932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Range-based for loops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143000" y="5646420"/>
            <a:ext cx="9601200" cy="0"/>
          </a:xfrm>
          <a:prstGeom prst="line">
            <a:avLst/>
          </a:prstGeom>
          <a:noFill/>
          <a:ln w="12700">
            <a:solidFill>
              <a:srgbClr val="2A2A3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737860"/>
            <a:ext cx="384048" cy="38404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57378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143000" y="5664708"/>
            <a:ext cx="10241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build: a class roster with parallel vectors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We Need Collections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So far the tracker handles exactly one student, one array of grades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real class roster has many students, each with their own grades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Loose individual variables don't scale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name1, name2, name3... one variable per student is unworkable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No way to loop over 30 students with hard-coded variable names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We need a way to group many values under one name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C++ gives us two tools for this: arrays and vectors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C-Style Arrays: Recap and Limits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002536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NUM_GRADES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Module 3 and 4 already used this: a fixed-size block of same-type values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Size is set at compile time and cannot be changed while running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grades[5] would be a 4th grade slot that was never allocated - undefined behavior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You must track the size yourself, usually in a separate int or size_t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Fine for exactly 3 grades - painful for a roster of unknown size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831336"/>
            <a:ext cx="6858000" cy="10607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COLLECTIONS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Introducing std::vector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471928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1969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starts empty, no size needed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starts with 3 slots, each 0.0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103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 vector is a resizable array - it grows and shrinks as needed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Requires #include &lt;vector&gt;; type is vector&lt;elementType&gt;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Unlike a plain array, you don't have to know the size ahead of time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Vectors track their own size internally - no separate size variable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For a class roster of unknown length, vector is the natural choice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300728"/>
            <a:ext cx="6858000" cy="8595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OPERATIONS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Building a Vector with push_back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2706624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2203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push_back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"Count: 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"First: 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"Last (safe): "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push_back() adds one element to the end, growing the vector by one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size() returns how many elements are currently stored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[] indexes like an array but does no bounds checking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at() also indexes, but throws an error if the index is out of range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Prefer at() while learning - it catches mistakes instead of hiding them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4535424"/>
            <a:ext cx="6858000" cy="106070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Count: 3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First: 88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Last (safe): 79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AS DATA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std::string Basics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string is really a sequence of characters with helpful built-in tools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Common operations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+ concatenates: firstName + " " + lastName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.length() returns the number of characters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[] indexes a single character, e.g. name[0] is the first letter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.substr(start, length) extracts part of the string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Example: string name = "Ava Thompson"; then name.substr(0, 3) is "Ava"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name.length() on that same string returns 12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Strings behave like a hybrid of a value and a mini character array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GRADEBOOK AS A GRID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2D Collections: Vector of Vectors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1088136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A gradebook is naturally a grid: rows of students, columns of grades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vector&lt;vector&lt;double&gt;&gt; models exactly that - a vector where each element is itself a vector</a:t>
            </a:r>
            <a:endParaRPr lang="en-US" sz="17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Declaring and accessing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vector&lt;vector&lt;double&gt;&gt; grades = {{88, 92, 79}, {95, 91, 89}};</a:t>
            </a:r>
            <a:endParaRPr lang="en-US" sz="1700" dirty="0"/>
          </a:p>
          <a:p>
            <a:pPr lvl="1" marL="457200" indent="-228600">
              <a:spcAft>
                <a:spcPts val="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grades[0] is student 0's entire row of grades</a:t>
            </a:r>
            <a:endParaRPr lang="en-US" sz="1700" dirty="0"/>
          </a:p>
          <a:p>
            <a:pPr lvl="1" marL="457200" indent="-228600">
              <a:spcAft>
                <a:spcPts val="1400"/>
              </a:spcAft>
              <a:buSzPct val="100000"/>
              <a:buChar char="–"/>
            </a:pPr>
            <a:r>
              <a:rPr lang="en-US" sz="1500" dirty="0">
                <a:solidFill>
                  <a:srgbClr val="6B7280"/>
                </a:solidFill>
              </a:rPr>
              <a:t>grades[0][1] is student 0's second grade - row, then column</a:t>
            </a:r>
            <a:endParaRPr lang="en-US" sz="17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1E1E2E"/>
                </a:solidFill>
              </a:rPr>
              <a:t>Think spreadsheet: grades[i][j] means row i, column j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CLEANER LOOPS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Index-Based vs Range-Based For Loops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91640"/>
            <a:ext cx="5349240" cy="73152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Index-Based (needs i)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for (int i = 0; i &lt; grades.size(); i++)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Access element with grades[i]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Needed when you want the position itself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Needed when updating names[i] and grades[i] together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More to get wrong: start, condition, increment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349240" cy="4480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5349240" cy="73152"/>
          </a:xfrm>
          <a:prstGeom prst="rect">
            <a:avLst/>
          </a:prstGeom>
          <a:solidFill>
            <a:srgbClr val="B36F00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9659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Range-Based (no i needed)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2514600"/>
            <a:ext cx="470916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for (double g : grades)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g is a copy of each element in turn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Reads as "for each grade g in grades"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Cleaner when you only need the values, not the index</a:t>
            </a:r>
            <a:endParaRPr lang="en-US" sz="150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6B7280"/>
                </a:solidFill>
              </a:rPr>
              <a:t>Can't easily update a second vector in sync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SYNTAX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Range-Based For Loops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6858000" cy="3863340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164592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8" name="Shape 6"/>
          <p:cNvSpPr/>
          <p:nvPr/>
        </p:nvSpPr>
        <p:spPr>
          <a:xfrm>
            <a:off x="713232" y="173736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9" name="Shape 7"/>
          <p:cNvSpPr/>
          <p:nvPr/>
        </p:nvSpPr>
        <p:spPr>
          <a:xfrm>
            <a:off x="932688" y="173736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0" name="Shape 8"/>
          <p:cNvSpPr/>
          <p:nvPr/>
        </p:nvSpPr>
        <p:spPr>
          <a:xfrm>
            <a:off x="1152144" y="173736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164592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029968"/>
            <a:ext cx="6309360" cy="3360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index-based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range-based - same result, less to manage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total1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 "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total2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635240" y="1645920"/>
            <a:ext cx="3977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for (type varName : collectionName) reads each element in order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No index variable to declare, bound, or increment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Use it whenever you just need the values, not their position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This is exactly the pattern calculateAverage() will use next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5692140"/>
            <a:ext cx="6858000" cy="65836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101600" tIns="101600" rIns="101600" bIns="10160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0E7C7B"/>
                </a:solidFill>
              </a:rPr>
              <a:t>OUTPUT</a:t>
            </a:r>
            <a:endParaRPr lang="en-US" sz="1000" dirty="0"/>
          </a:p>
          <a:p>
            <a:pPr indent="0" marL="0">
              <a:buNone/>
            </a:pPr>
            <a:r>
              <a:rPr lang="en-US" sz="1200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259 259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solidFill>
            <a:srgbClr val="F7F7FA"/>
          </a:solidFill>
          <a:ln/>
        </p:spPr>
      </p:sp>
      <p:sp>
        <p:nvSpPr>
          <p:cNvPr id="3" name="Text 1"/>
          <p:cNvSpPr/>
          <p:nvPr/>
        </p:nvSpPr>
        <p:spPr>
          <a:xfrm>
            <a:off x="11109960" y="38404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65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E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BUILD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E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 Build: A Whole Class Roster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6858000" cy="4349496"/>
          </a:xfrm>
          <a:prstGeom prst="rect">
            <a:avLst/>
          </a:prstGeom>
          <a:solidFill>
            <a:srgbClr val="1E1E1E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48640" y="1783080"/>
            <a:ext cx="6858000" cy="292608"/>
          </a:xfrm>
          <a:prstGeom prst="rect">
            <a:avLst/>
          </a:prstGeom>
          <a:solidFill>
            <a:srgbClr val="2D2D30"/>
          </a:solidFill>
          <a:ln/>
        </p:spPr>
      </p:sp>
      <p:sp>
        <p:nvSpPr>
          <p:cNvPr id="9" name="Shape 7"/>
          <p:cNvSpPr/>
          <p:nvPr/>
        </p:nvSpPr>
        <p:spPr>
          <a:xfrm>
            <a:off x="713232" y="1874520"/>
            <a:ext cx="109728" cy="109728"/>
          </a:xfrm>
          <a:prstGeom prst="ellipse">
            <a:avLst/>
          </a:prstGeom>
          <a:solidFill>
            <a:srgbClr val="FF5F56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1874520"/>
            <a:ext cx="109728" cy="109728"/>
          </a:xfrm>
          <a:prstGeom prst="ellipse">
            <a:avLst/>
          </a:prstGeom>
          <a:solidFill>
            <a:srgbClr val="FFBD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2144" y="1874520"/>
            <a:ext cx="109728" cy="109728"/>
          </a:xfrm>
          <a:prstGeom prst="ellipse">
            <a:avLst/>
          </a:prstGeom>
          <a:solidFill>
            <a:srgbClr val="27C93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7830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main.cpp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2167128"/>
            <a:ext cx="6309360" cy="384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iostream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#include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namespace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std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string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"Ava Thompson"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"Marcus Lee"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"Priya Patel"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vector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size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double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calculateAverage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grades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cout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endl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7635240" y="1783080"/>
            <a:ext cx="3977640" cy="434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names and grades are two separate, parallel vectors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names[i] and grades[i] must refer to the same student - matched by index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calculateAverage() is overloaded: Module 4 took double[] and size, this takes vector&lt;double&gt;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The range-based for loop inside calculateAverage() sums the vector cleanly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Risk: insert, delete, or reorder one vector without the other and data misaligns</a:t>
            </a:r>
            <a:endParaRPr lang="en-US" sz="140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E1E2E"/>
                </a:solidFill>
              </a:rPr>
              <a:t>That fragility is exactly what a Student class will fix in Module 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09728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IN-CLASS EXERCISE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Exercise: Add a Student and Compute the Class Average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67665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Add a 4th student to both the names vector and the grades vector of vectors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Make sure the new entries land at matching index positions in both vectors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Loop over all students, printing each one's average as the project build does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While looping, accumulate each student's average into a running class total</a:t>
            </a:r>
            <a:endParaRPr lang="en-US" sz="1800" dirty="0"/>
          </a:p>
          <a:p>
            <a:pPr marL="254000" indent="-254000">
              <a:spcAft>
                <a:spcPts val="1200"/>
              </a:spcAft>
              <a:buSzPct val="100000"/>
              <a:buChar char="▸"/>
            </a:pPr>
            <a:r>
              <a:rPr lang="en-US" sz="1800" dirty="0">
                <a:solidFill>
                  <a:srgbClr val="F2F2F2"/>
                </a:solidFill>
              </a:rPr>
              <a:t>After the loop, divide the running total by names.size() and print the class average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635240" y="1828800"/>
            <a:ext cx="3977640" cy="274320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0" y="2011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863840" y="2423160"/>
            <a:ext cx="3566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Call calculateAverage(grades[i]) inside the loop and reuse its return value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Declare a double classTotal = 0; before the loop, then classTotal += avg; inside it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8D8E8"/>
                </a:solidFill>
              </a:rPr>
              <a:t>Double-check names.size() equals grades.size() - a mismatch means the vectors drifted out of sync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2A2A3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4EC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RECAP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58368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F2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9875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Arrays are fixed-size; vector&lt;T&gt; resizes dynamically with push_back()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size() reports element count; at() bounds-checks, [] does not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std::string supports +, .length(), [], and .substr() for text work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vector&lt;vector&lt;double&gt;&gt; models a grid: grades[i][j] is row i, column j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Range-based for (type v : collection) is cleaner when the index isn't needed</a:t>
            </a:r>
            <a:endParaRPr lang="en-US" sz="1800" dirty="0"/>
          </a:p>
          <a:p>
            <a:pPr marL="279400" indent="-279400">
              <a:spcAft>
                <a:spcPts val="1600"/>
              </a:spcAft>
              <a:buSzPct val="100000"/>
              <a:buChar char="✓"/>
            </a:pPr>
            <a:r>
              <a:rPr lang="en-US" sz="1800" dirty="0">
                <a:solidFill>
                  <a:srgbClr val="F2F2F2"/>
                </a:solidFill>
              </a:rPr>
              <a:t>Parallel vectors (names[i] matches grades[i]) are fragile - one real object beats two synced lists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5577840"/>
            <a:ext cx="11064240" cy="777240"/>
          </a:xfrm>
          <a:prstGeom prst="rect">
            <a:avLst/>
          </a:prstGeom>
          <a:solidFill>
            <a:srgbClr val="2A2A3D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55778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A500"/>
                </a:solidFill>
              </a:rPr>
              <a:t>NEXT UP   </a:t>
            </a:r>
            <a:pPr indent="0" marL="0">
              <a:buNone/>
            </a:pPr>
            <a:r>
              <a:rPr lang="en-US" sz="1400" i="1" dirty="0">
                <a:solidFill>
                  <a:srgbClr val="F2F2F2"/>
                </a:solidFill>
              </a:rPr>
              <a:t>Module 6 - Structs and Introduction to Classes: building a proper Student class so name and grades live together in one object.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6528816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FUNDAMENTALS  ·  MODULE 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338560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A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5: Arrays, Vectors &amp; Strings</dc:title>
  <dc:subject>PptxGenJS Presentation</dc:subject>
  <dc:creator>C++ Fundamentals Course</dc:creator>
  <cp:lastModifiedBy>C++ Fundamentals Course</cp:lastModifiedBy>
  <cp:revision>1</cp:revision>
  <dcterms:created xsi:type="dcterms:W3CDTF">2026-08-29T18:23:46Z</dcterms:created>
  <dcterms:modified xsi:type="dcterms:W3CDTF">2026-08-29T18:23:46Z</dcterms:modified>
</cp:coreProperties>
</file>