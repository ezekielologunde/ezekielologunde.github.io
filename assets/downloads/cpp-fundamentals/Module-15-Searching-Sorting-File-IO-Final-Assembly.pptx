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EC9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-1463040"/>
            <a:ext cx="4114800" cy="4114800"/>
          </a:xfrm>
          <a:prstGeom prst="ellipse">
            <a:avLst/>
          </a:prstGeom>
          <a:solidFill>
            <a:srgbClr val="2A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607040" y="4389120"/>
            <a:ext cx="2743200" cy="2743200"/>
          </a:xfrm>
          <a:prstGeom prst="ellipse">
            <a:avLst/>
          </a:prstGeom>
          <a:solidFill>
            <a:srgbClr val="2A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4EC9B0"/>
                </a:solidFill>
                <a:latin typeface="Calibri"/>
              </a:rPr>
              <a:t>C++ FUNDAMENTALS  ·  STUDENT GRADE &amp; COURSE TRACKER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874519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F0A500"/>
                </a:solidFill>
                <a:latin typeface="Consolas"/>
              </a:rPr>
              <a:t>MODULE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377440"/>
            <a:ext cx="1024128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4600" b="1" i="0">
                <a:solidFill>
                  <a:srgbClr val="F2F2F2"/>
                </a:solidFill>
                <a:latin typeface="Consolas"/>
              </a:rPr>
              <a:t>Searching, Sorting, File I/O &amp; Final Assembly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977639"/>
            <a:ext cx="9144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C7C7DA"/>
                </a:solidFill>
                <a:latin typeface="Calibri"/>
              </a:rPr>
              <a:t>Sort it, search it, save it — the capstone finale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822960" y="6035040"/>
            <a:ext cx="2743200" cy="0"/>
          </a:xfrm>
          <a:prstGeom prst="line">
            <a:avLst/>
          </a:prstGeom>
          <a:ln w="25400">
            <a:solidFill>
              <a:srgbClr val="4EC9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822960" y="617220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8A8AA3"/>
                </a:solidFill>
                <a:latin typeface="Calibri"/>
              </a:rPr>
              <a:t>Community College C++ Programming — Intro Sequence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4EC9B0"/>
                </a:solidFill>
                <a:latin typeface="Calibri"/>
              </a:rPr>
              <a:t>IN THIS MODULE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F2F2F2"/>
                </a:solidFill>
                <a:latin typeface="Consolas"/>
              </a:rPr>
              <a:t>What We'll Cover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737360"/>
            <a:ext cx="332349" cy="332349"/>
          </a:xfrm>
          <a:prstGeom prst="roundRect">
            <a:avLst/>
          </a:prstGeom>
          <a:solidFill>
            <a:srgbClr val="4EC9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98" b="1" i="0">
                <a:solidFill>
                  <a:srgbClr val="1E1E2E"/>
                </a:solidFill>
                <a:latin typeface="Consolas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1795584"/>
            <a:ext cx="10241280" cy="4743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0">
                <a:solidFill>
                  <a:srgbClr val="F2F2F2"/>
                </a:solidFill>
                <a:latin typeface="Calibri"/>
              </a:rPr>
              <a:t>Searching a list: the sequential search idea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143000" y="2211704"/>
            <a:ext cx="9601200" cy="0"/>
          </a:xfrm>
          <a:prstGeom prst="line">
            <a:avLst/>
          </a:prstGeom>
          <a:ln w="12700">
            <a:solidFill>
              <a:srgbClr val="2A2A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548640" y="2303145"/>
            <a:ext cx="332349" cy="332349"/>
          </a:xfrm>
          <a:prstGeom prst="roundRect">
            <a:avLst/>
          </a:prstGeom>
          <a:solidFill>
            <a:srgbClr val="F0A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98" b="1" i="0">
                <a:solidFill>
                  <a:srgbClr val="1E1E2E"/>
                </a:solidFill>
                <a:latin typeface="Consolas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2361369"/>
            <a:ext cx="10241280" cy="4743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0">
                <a:solidFill>
                  <a:srgbClr val="F2F2F2"/>
                </a:solidFill>
                <a:latin typeface="Calibri"/>
              </a:rPr>
              <a:t>Coding a linear search over the roster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143000" y="2777489"/>
            <a:ext cx="9601200" cy="0"/>
          </a:xfrm>
          <a:prstGeom prst="line">
            <a:avLst/>
          </a:prstGeom>
          <a:ln w="12700">
            <a:solidFill>
              <a:srgbClr val="2A2A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548640" y="2868929"/>
            <a:ext cx="332349" cy="332349"/>
          </a:xfrm>
          <a:prstGeom prst="roundRect">
            <a:avLst/>
          </a:prstGeom>
          <a:solidFill>
            <a:srgbClr val="4EC9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98" b="1" i="0">
                <a:solidFill>
                  <a:srgbClr val="1E1E2E"/>
                </a:solidFill>
                <a:latin typeface="Consolas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2927154"/>
            <a:ext cx="10241280" cy="4743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0">
                <a:solidFill>
                  <a:srgbClr val="F2F2F2"/>
                </a:solidFill>
                <a:latin typeface="Calibri"/>
              </a:rPr>
              <a:t>How bubble sort and insertion sort work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143000" y="3343274"/>
            <a:ext cx="9601200" cy="0"/>
          </a:xfrm>
          <a:prstGeom prst="line">
            <a:avLst/>
          </a:prstGeom>
          <a:ln w="12700">
            <a:solidFill>
              <a:srgbClr val="2A2A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48640" y="3434714"/>
            <a:ext cx="332349" cy="332349"/>
          </a:xfrm>
          <a:prstGeom prst="roundRect">
            <a:avLst/>
          </a:prstGeom>
          <a:solidFill>
            <a:srgbClr val="F0A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98" b="1" i="0">
                <a:solidFill>
                  <a:srgbClr val="1E1E2E"/>
                </a:solidFill>
                <a:latin typeface="Consolas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3492939"/>
            <a:ext cx="10241280" cy="4743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0">
                <a:solidFill>
                  <a:srgbClr val="F2F2F2"/>
                </a:solidFill>
                <a:latin typeface="Calibri"/>
              </a:rPr>
              <a:t>Sorting the roster with std::sort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143000" y="3909060"/>
            <a:ext cx="9601200" cy="0"/>
          </a:xfrm>
          <a:prstGeom prst="line">
            <a:avLst/>
          </a:prstGeom>
          <a:ln w="12700">
            <a:solidFill>
              <a:srgbClr val="2A2A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548640" y="4000500"/>
            <a:ext cx="332349" cy="332349"/>
          </a:xfrm>
          <a:prstGeom prst="roundRect">
            <a:avLst/>
          </a:prstGeom>
          <a:solidFill>
            <a:srgbClr val="4EC9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98" b="1" i="0">
                <a:solidFill>
                  <a:srgbClr val="1E1E2E"/>
                </a:solidFill>
                <a:latin typeface="Consolas"/>
              </a:rP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4058724"/>
            <a:ext cx="10241280" cy="4743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0">
                <a:solidFill>
                  <a:srgbClr val="F2F2F2"/>
                </a:solidFill>
                <a:latin typeface="Calibri"/>
              </a:rPr>
              <a:t>Binary search: divide and conquer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143000" y="4474845"/>
            <a:ext cx="9601200" cy="0"/>
          </a:xfrm>
          <a:prstGeom prst="line">
            <a:avLst/>
          </a:prstGeom>
          <a:ln w="12700">
            <a:solidFill>
              <a:srgbClr val="2A2A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548640" y="4566285"/>
            <a:ext cx="332349" cy="332349"/>
          </a:xfrm>
          <a:prstGeom prst="roundRect">
            <a:avLst/>
          </a:prstGeom>
          <a:solidFill>
            <a:srgbClr val="F0A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98" b="1" i="0">
                <a:solidFill>
                  <a:srgbClr val="1E1E2E"/>
                </a:solidFill>
                <a:latin typeface="Consolas"/>
              </a:rPr>
              <a:t>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" y="4624509"/>
            <a:ext cx="10241280" cy="4743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0">
                <a:solidFill>
                  <a:srgbClr val="F2F2F2"/>
                </a:solidFill>
                <a:latin typeface="Calibri"/>
              </a:rPr>
              <a:t>Persisting data with fstream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143000" y="5040630"/>
            <a:ext cx="9601200" cy="0"/>
          </a:xfrm>
          <a:prstGeom prst="line">
            <a:avLst/>
          </a:prstGeom>
          <a:ln w="12700">
            <a:solidFill>
              <a:srgbClr val="2A2A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548640" y="5132070"/>
            <a:ext cx="332349" cy="332349"/>
          </a:xfrm>
          <a:prstGeom prst="roundRect">
            <a:avLst/>
          </a:prstGeom>
          <a:solidFill>
            <a:srgbClr val="4EC9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98" b="1" i="0">
                <a:solidFill>
                  <a:srgbClr val="1E1E2E"/>
                </a:solidFill>
                <a:latin typeface="Consolas"/>
              </a:rPr>
              <a:t>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3000" y="5190294"/>
            <a:ext cx="10241280" cy="4743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0">
                <a:solidFill>
                  <a:srgbClr val="F2F2F2"/>
                </a:solidFill>
                <a:latin typeface="Calibri"/>
              </a:rPr>
              <a:t>Writing the roster to a file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1143000" y="5606415"/>
            <a:ext cx="9601200" cy="0"/>
          </a:xfrm>
          <a:prstGeom prst="line">
            <a:avLst/>
          </a:prstGeom>
          <a:ln w="12700">
            <a:solidFill>
              <a:srgbClr val="2A2A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548640" y="5697855"/>
            <a:ext cx="332349" cy="332349"/>
          </a:xfrm>
          <a:prstGeom prst="roundRect">
            <a:avLst/>
          </a:prstGeom>
          <a:solidFill>
            <a:srgbClr val="F0A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98" b="1" i="0">
                <a:solidFill>
                  <a:srgbClr val="1E1E2E"/>
                </a:solidFill>
                <a:latin typeface="Consolas"/>
              </a:rPr>
              <a:t>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43000" y="5756079"/>
            <a:ext cx="10241280" cy="4743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0">
                <a:solidFill>
                  <a:srgbClr val="F2F2F2"/>
                </a:solidFill>
                <a:latin typeface="Calibri"/>
              </a:rPr>
              <a:t>Final project requirements and the grading rubric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6528816"/>
            <a:ext cx="6400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8A8AA3"/>
                </a:solidFill>
                <a:latin typeface="Calibri"/>
              </a:rPr>
              <a:t>C++ FUNDAMENTALS  ·  MODULE 15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338560" y="6528816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8A8AA3"/>
                </a:solidFill>
                <a:latin typeface="Calibri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1109960" y="384048"/>
            <a:ext cx="685800" cy="365760"/>
          </a:xfrm>
          <a:prstGeom prst="rect">
            <a:avLst/>
          </a:prstGeom>
          <a:solidFill>
            <a:srgbClr val="F7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 i="0">
                <a:solidFill>
                  <a:srgbClr val="0E7C7B"/>
                </a:solidFill>
                <a:latin typeface="Consolas"/>
              </a:rPr>
              <a:t>M15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E7C7B"/>
                </a:solidFill>
                <a:latin typeface="Calibri"/>
              </a:rPr>
              <a:t>SEARCHING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1E1E2E"/>
                </a:solidFill>
                <a:latin typeface="Consolas"/>
              </a:rPr>
              <a:t>Searching a List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91640"/>
            <a:ext cx="658368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sz="1700" b="0" i="0">
                <a:solidFill>
                  <a:srgbClr val="1E1E2E"/>
                </a:solidFill>
                <a:latin typeface="Calibri"/>
              </a:rPr>
              <a:t>A list is just a collection of values of the same type — your roster vector qualifies</a:t>
            </a:r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sz="1700" b="0" i="0">
                <a:solidFill>
                  <a:srgbClr val="1E1E2E"/>
                </a:solidFill>
                <a:latin typeface="Calibri"/>
              </a:rPr>
              <a:t>Sequential (linear) search checks every element in order until it finds a match or runs out</a:t>
            </a:r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sz="1700" b="0" i="0">
                <a:solidFill>
                  <a:srgbClr val="1E1E2E"/>
                </a:solidFill>
                <a:latin typeface="Calibri"/>
              </a:rPr>
              <a:t>It doesn't care whether the list is sorted — that's its main advantage</a:t>
            </a:r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sz="1700" b="0" i="0">
                <a:solidFill>
                  <a:srgbClr val="1E1E2E"/>
                </a:solidFill>
                <a:latin typeface="Calibri"/>
              </a:rPr>
              <a:t>On average it costs about half the list's size in comparisons — slow for big lists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452360" y="1691640"/>
            <a:ext cx="3977639" cy="2926080"/>
          </a:xfrm>
          <a:prstGeom prst="rect">
            <a:avLst/>
          </a:prstGeom>
          <a:solidFill>
            <a:srgbClr val="1E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26679" y="1874519"/>
            <a:ext cx="3474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0A500"/>
                </a:solidFill>
                <a:latin typeface="Calibri"/>
              </a:rPr>
              <a:t>STL SHORTCUT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26679" y="2240280"/>
            <a:ext cx="347472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400" b="0" i="0">
                <a:solidFill>
                  <a:srgbClr val="F2F2F2"/>
                </a:solidFill>
                <a:latin typeface="Calibri"/>
              </a:rPr>
              <a:t>find_if() from &lt;algorithm&gt; runs a sequential search for you — just supply what counts as a match.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528816"/>
            <a:ext cx="6400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9CA3AF"/>
                </a:solidFill>
                <a:latin typeface="Calibri"/>
              </a:rPr>
              <a:t>C++ FUNDAMENTALS  ·  MODULE 15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528816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9CA3AF"/>
                </a:solidFill>
                <a:latin typeface="Calibri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1109960" y="384048"/>
            <a:ext cx="685800" cy="365760"/>
          </a:xfrm>
          <a:prstGeom prst="rect">
            <a:avLst/>
          </a:prstGeom>
          <a:solidFill>
            <a:srgbClr val="F7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 i="0">
                <a:solidFill>
                  <a:srgbClr val="0E7C7B"/>
                </a:solidFill>
                <a:latin typeface="Consolas"/>
              </a:rPr>
              <a:t>M15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E7C7B"/>
                </a:solidFill>
                <a:latin typeface="Calibri"/>
              </a:rPr>
              <a:t>SEARCHING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1E1E2E"/>
                </a:solidFill>
                <a:latin typeface="Consolas"/>
              </a:rPr>
              <a:t>Linear Search for a Student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45920"/>
            <a:ext cx="6858000" cy="3457346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645920"/>
            <a:ext cx="6858000" cy="292608"/>
          </a:xfrm>
          <a:prstGeom prst="rect">
            <a:avLst/>
          </a:prstGeom>
          <a:solidFill>
            <a:srgbClr val="2D2D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13232" y="1737360"/>
            <a:ext cx="109728" cy="109728"/>
          </a:xfrm>
          <a:prstGeom prst="ellipse">
            <a:avLst/>
          </a:prstGeom>
          <a:solidFill>
            <a:srgbClr val="FF5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32688" y="1737360"/>
            <a:ext cx="109728" cy="109728"/>
          </a:xfrm>
          <a:prstGeom prst="ellipse">
            <a:avLst/>
          </a:prstGeom>
          <a:solidFill>
            <a:srgbClr val="FFB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52144" y="1737360"/>
            <a:ext cx="109728" cy="109728"/>
          </a:xfrm>
          <a:prstGeom prst="ellipse">
            <a:avLst/>
          </a:prstGeom>
          <a:solidFill>
            <a:srgbClr val="27C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1645920"/>
            <a:ext cx="57607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9B9BA3"/>
                </a:solidFill>
                <a:latin typeface="Consolas"/>
              </a:rPr>
              <a:t>main.cpp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2029968"/>
            <a:ext cx="6309360" cy="32104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ts val="1860"/>
              </a:lnSpc>
            </a:pPr>
            <a:r>
              <a:rPr sz="1400" b="0" i="0">
                <a:solidFill>
                  <a:srgbClr val="569CD6"/>
                </a:solidFill>
                <a:latin typeface="Consolas"/>
              </a:rPr>
              <a:t>int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 </a:t>
            </a:r>
            <a:r>
              <a:rPr sz="1400" b="0" i="0">
                <a:solidFill>
                  <a:srgbClr val="DCDCAA"/>
                </a:solidFill>
                <a:latin typeface="Consolas"/>
              </a:rPr>
              <a:t>findById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(</a:t>
            </a:r>
          </a:p>
          <a:p>
            <a:pPr>
              <a:lnSpc>
                <a:spcPts val="1860"/>
              </a:lnSpc>
            </a:pPr>
            <a:r>
              <a:rPr sz="1400" b="0" i="0">
                <a:solidFill>
                  <a:srgbClr val="D4D4D4"/>
                </a:solidFill>
                <a:latin typeface="Consolas"/>
              </a:rPr>
              <a:t>        </a:t>
            </a:r>
            <a:r>
              <a:rPr sz="1400" b="0" i="0">
                <a:solidFill>
                  <a:srgbClr val="569CD6"/>
                </a:solidFill>
                <a:latin typeface="Consolas"/>
              </a:rPr>
              <a:t>const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 </a:t>
            </a:r>
            <a:r>
              <a:rPr sz="1400" b="0" i="0">
                <a:solidFill>
                  <a:srgbClr val="4EC9B0"/>
                </a:solidFill>
                <a:latin typeface="Consolas"/>
              </a:rPr>
              <a:t>vector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&lt;</a:t>
            </a:r>
            <a:r>
              <a:rPr sz="1400" b="0" i="0">
                <a:solidFill>
                  <a:srgbClr val="4EC9B0"/>
                </a:solidFill>
                <a:latin typeface="Consolas"/>
              </a:rPr>
              <a:t>Student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&gt;&amp;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 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roster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,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 </a:t>
            </a:r>
            <a:r>
              <a:rPr sz="1400" b="0" i="0">
                <a:solidFill>
                  <a:srgbClr val="569CD6"/>
                </a:solidFill>
                <a:latin typeface="Consolas"/>
              </a:rPr>
              <a:t>int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 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id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)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 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{</a:t>
            </a:r>
          </a:p>
          <a:p>
            <a:pPr>
              <a:lnSpc>
                <a:spcPts val="1860"/>
              </a:lnSpc>
            </a:pPr>
            <a:r>
              <a:rPr sz="1400" b="0" i="0">
                <a:solidFill>
                  <a:srgbClr val="D4D4D4"/>
                </a:solidFill>
                <a:latin typeface="Consolas"/>
              </a:rPr>
              <a:t>    </a:t>
            </a:r>
            <a:r>
              <a:rPr sz="1400" b="0" i="0">
                <a:solidFill>
                  <a:srgbClr val="569CD6"/>
                </a:solidFill>
                <a:latin typeface="Consolas"/>
              </a:rPr>
              <a:t>for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 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(</a:t>
            </a:r>
            <a:r>
              <a:rPr sz="1400" b="0" i="0">
                <a:solidFill>
                  <a:srgbClr val="569CD6"/>
                </a:solidFill>
                <a:latin typeface="Consolas"/>
              </a:rPr>
              <a:t>int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 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i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 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=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 </a:t>
            </a:r>
            <a:r>
              <a:rPr sz="1400" b="0" i="0">
                <a:solidFill>
                  <a:srgbClr val="B5CEA8"/>
                </a:solidFill>
                <a:latin typeface="Consolas"/>
              </a:rPr>
              <a:t>0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;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 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i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 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&lt;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 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roster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.</a:t>
            </a:r>
            <a:r>
              <a:rPr sz="1400" b="0" i="0">
                <a:solidFill>
                  <a:srgbClr val="DCDCAA"/>
                </a:solidFill>
                <a:latin typeface="Consolas"/>
              </a:rPr>
              <a:t>size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();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 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i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++)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 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{</a:t>
            </a:r>
          </a:p>
          <a:p>
            <a:pPr>
              <a:lnSpc>
                <a:spcPts val="1860"/>
              </a:lnSpc>
            </a:pPr>
            <a:r>
              <a:rPr sz="1400" b="0" i="0">
                <a:solidFill>
                  <a:srgbClr val="D4D4D4"/>
                </a:solidFill>
                <a:latin typeface="Consolas"/>
              </a:rPr>
              <a:t>        </a:t>
            </a:r>
            <a:r>
              <a:rPr sz="1400" b="0" i="0">
                <a:solidFill>
                  <a:srgbClr val="569CD6"/>
                </a:solidFill>
                <a:latin typeface="Consolas"/>
              </a:rPr>
              <a:t>if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 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(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roster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[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i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].</a:t>
            </a:r>
            <a:r>
              <a:rPr sz="1400" b="0" i="0">
                <a:solidFill>
                  <a:srgbClr val="DCDCAA"/>
                </a:solidFill>
                <a:latin typeface="Consolas"/>
              </a:rPr>
              <a:t>getId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()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 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==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 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id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)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 </a:t>
            </a:r>
            <a:r>
              <a:rPr sz="1400" b="0" i="0">
                <a:solidFill>
                  <a:srgbClr val="569CD6"/>
                </a:solidFill>
                <a:latin typeface="Consolas"/>
              </a:rPr>
              <a:t>return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 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i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;</a:t>
            </a:r>
          </a:p>
          <a:p>
            <a:pPr>
              <a:lnSpc>
                <a:spcPts val="1860"/>
              </a:lnSpc>
            </a:pPr>
            <a:r>
              <a:rPr sz="1400" b="0" i="0">
                <a:solidFill>
                  <a:srgbClr val="D4D4D4"/>
                </a:solidFill>
                <a:latin typeface="Consolas"/>
              </a:rPr>
              <a:t>    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}</a:t>
            </a:r>
          </a:p>
          <a:p>
            <a:pPr>
              <a:lnSpc>
                <a:spcPts val="1860"/>
              </a:lnSpc>
            </a:pPr>
            <a:r>
              <a:rPr sz="1400" b="0" i="0">
                <a:solidFill>
                  <a:srgbClr val="D4D4D4"/>
                </a:solidFill>
                <a:latin typeface="Consolas"/>
              </a:rPr>
              <a:t>    </a:t>
            </a:r>
            <a:r>
              <a:rPr sz="1400" b="0" i="0">
                <a:solidFill>
                  <a:srgbClr val="569CD6"/>
                </a:solidFill>
                <a:latin typeface="Consolas"/>
              </a:rPr>
              <a:t>return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 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-</a:t>
            </a:r>
            <a:r>
              <a:rPr sz="1400" b="0" i="0">
                <a:solidFill>
                  <a:srgbClr val="B5CEA8"/>
                </a:solidFill>
                <a:latin typeface="Consolas"/>
              </a:rPr>
              <a:t>1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;</a:t>
            </a:r>
          </a:p>
          <a:p>
            <a:pPr>
              <a:lnSpc>
                <a:spcPts val="1860"/>
              </a:lnSpc>
            </a:pPr>
            <a:r>
              <a:rPr sz="1400" b="0" i="0">
                <a:solidFill>
                  <a:srgbClr val="D4D4D4"/>
                </a:solidFill>
                <a:latin typeface="Consolas"/>
              </a:rPr>
              <a:t>}</a:t>
            </a:r>
          </a:p>
          <a:p>
            <a:pPr>
              <a:lnSpc>
                <a:spcPts val="1860"/>
              </a:lnSpc>
            </a:pPr>
            <a:r>
              <a:rPr sz="1400" b="0" i="0">
                <a:solidFill>
                  <a:srgbClr val="D4D4D4"/>
                </a:solidFill>
                <a:latin typeface="Consolas"/>
              </a:rPr>
              <a:t> </a:t>
            </a:r>
          </a:p>
          <a:p>
            <a:pPr>
              <a:lnSpc>
                <a:spcPts val="1860"/>
              </a:lnSpc>
            </a:pPr>
            <a:r>
              <a:rPr sz="1400" b="0" i="0">
                <a:solidFill>
                  <a:srgbClr val="569CD6"/>
                </a:solidFill>
                <a:latin typeface="Consolas"/>
              </a:rPr>
              <a:t>int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 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idx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 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=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 </a:t>
            </a:r>
            <a:r>
              <a:rPr sz="1400" b="0" i="0">
                <a:solidFill>
                  <a:srgbClr val="DCDCAA"/>
                </a:solidFill>
                <a:latin typeface="Consolas"/>
              </a:rPr>
              <a:t>findById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(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roster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,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 </a:t>
            </a:r>
            <a:r>
              <a:rPr sz="1400" b="0" i="0">
                <a:solidFill>
                  <a:srgbClr val="B5CEA8"/>
                </a:solidFill>
                <a:latin typeface="Consolas"/>
              </a:rPr>
              <a:t>1002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);</a:t>
            </a:r>
          </a:p>
          <a:p>
            <a:pPr>
              <a:lnSpc>
                <a:spcPts val="1860"/>
              </a:lnSpc>
            </a:pPr>
            <a:r>
              <a:rPr sz="1400" b="0" i="0">
                <a:solidFill>
                  <a:srgbClr val="569CD6"/>
                </a:solidFill>
                <a:latin typeface="Consolas"/>
              </a:rPr>
              <a:t>if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 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(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idx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 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!=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 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-</a:t>
            </a:r>
            <a:r>
              <a:rPr sz="1400" b="0" i="0">
                <a:solidFill>
                  <a:srgbClr val="B5CEA8"/>
                </a:solidFill>
                <a:latin typeface="Consolas"/>
              </a:rPr>
              <a:t>1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)</a:t>
            </a:r>
          </a:p>
          <a:p>
            <a:pPr>
              <a:lnSpc>
                <a:spcPts val="1860"/>
              </a:lnSpc>
            </a:pPr>
            <a:r>
              <a:rPr sz="1400" b="0" i="0">
                <a:solidFill>
                  <a:srgbClr val="D4D4D4"/>
                </a:solidFill>
                <a:latin typeface="Consolas"/>
              </a:rPr>
              <a:t>    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cout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 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&lt;&lt;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 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roster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[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idx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].</a:t>
            </a:r>
            <a:r>
              <a:rPr sz="1400" b="0" i="0">
                <a:solidFill>
                  <a:srgbClr val="DCDCAA"/>
                </a:solidFill>
                <a:latin typeface="Consolas"/>
              </a:rPr>
              <a:t>getName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();</a:t>
            </a:r>
          </a:p>
          <a:p>
            <a:pPr>
              <a:lnSpc>
                <a:spcPts val="1860"/>
              </a:lnSpc>
            </a:pPr>
            <a:r>
              <a:rPr sz="1400" b="0" i="0">
                <a:solidFill>
                  <a:srgbClr val="569CD6"/>
                </a:solidFill>
                <a:latin typeface="Consolas"/>
              </a:rPr>
              <a:t>else</a:t>
            </a:r>
          </a:p>
          <a:p>
            <a:pPr>
              <a:lnSpc>
                <a:spcPts val="1860"/>
              </a:lnSpc>
            </a:pPr>
            <a:r>
              <a:rPr sz="1400" b="0" i="0">
                <a:solidFill>
                  <a:srgbClr val="D4D4D4"/>
                </a:solidFill>
                <a:latin typeface="Consolas"/>
              </a:rPr>
              <a:t>    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cout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 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&lt;&lt;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 </a:t>
            </a:r>
            <a:r>
              <a:rPr sz="1400" b="0" i="0">
                <a:solidFill>
                  <a:srgbClr val="CE9178"/>
                </a:solidFill>
                <a:latin typeface="Consolas"/>
              </a:rPr>
              <a:t>"Not found"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;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35240" y="1645920"/>
            <a:ext cx="3977639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sz="1400" b="0" i="0">
                <a:solidFill>
                  <a:srgbClr val="1E1E2E"/>
                </a:solidFill>
                <a:latin typeface="Calibri"/>
              </a:rPr>
              <a:t>Walks the vector index by index, comparing each Student's ID</a:t>
            </a:r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sz="1400" b="0" i="0">
                <a:solidFill>
                  <a:srgbClr val="1E1E2E"/>
                </a:solidFill>
                <a:latin typeface="Calibri"/>
              </a:rPr>
              <a:t>Returns the index on a match, or -1 if nobody has that ID</a:t>
            </a:r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sz="1400" b="0" i="0">
                <a:solidFill>
                  <a:srgbClr val="1E1E2E"/>
                </a:solidFill>
                <a:latin typeface="Calibri"/>
              </a:rPr>
              <a:t>This is exactly what find_if() automates using a lambda instead</a:t>
            </a:r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sz="1400" b="0" i="0">
                <a:solidFill>
                  <a:srgbClr val="1E1E2E"/>
                </a:solidFill>
                <a:latin typeface="Calibri"/>
              </a:rPr>
              <a:t>Works whether the roster is sorted or not — sequential search doesn't care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5286146"/>
            <a:ext cx="6858000" cy="6583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73152" bIns="73152" wrap="square"/>
          <a:lstStyle/>
          <a:p>
            <a:pPr algn="ctr"/>
            <a:r>
              <a:rPr sz="1000" b="1" i="0">
                <a:solidFill>
                  <a:srgbClr val="0E7C7B"/>
                </a:solidFill>
                <a:latin typeface="Calibri"/>
              </a:rPr>
              <a:t>OUTPUT</a:t>
            </a:r>
          </a:p>
          <a:p>
            <a:r>
              <a:rPr sz="1200" b="0" i="0">
                <a:solidFill>
                  <a:srgbClr val="1E1E2E"/>
                </a:solidFill>
                <a:latin typeface="Consolas"/>
              </a:rPr>
              <a:t>James Okoro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528816"/>
            <a:ext cx="6400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9CA3AF"/>
                </a:solidFill>
                <a:latin typeface="Calibri"/>
              </a:rPr>
              <a:t>C++ FUNDAMENTALS  ·  MODULE 15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528816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9CA3AF"/>
                </a:solidFill>
                <a:latin typeface="Calibri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1109960" y="384048"/>
            <a:ext cx="685800" cy="365760"/>
          </a:xfrm>
          <a:prstGeom prst="rect">
            <a:avLst/>
          </a:prstGeom>
          <a:solidFill>
            <a:srgbClr val="F7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 i="0">
                <a:solidFill>
                  <a:srgbClr val="0E7C7B"/>
                </a:solidFill>
                <a:latin typeface="Consolas"/>
              </a:rPr>
              <a:t>M15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E7C7B"/>
                </a:solidFill>
                <a:latin typeface="Calibri"/>
              </a:rPr>
              <a:t>SORTING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1E1E2E"/>
                </a:solidFill>
                <a:latin typeface="Consolas"/>
              </a:rPr>
              <a:t>Sorting a List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91640"/>
            <a:ext cx="658368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sz="1700" b="0" i="0">
                <a:solidFill>
                  <a:srgbClr val="1E1E2E"/>
                </a:solidFill>
                <a:latin typeface="Calibri"/>
              </a:rPr>
              <a:t>Bubble sort compares neighbors and swaps them, so bigger values bubble to the end</a:t>
            </a:r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sz="1700" b="0" i="0">
                <a:solidFill>
                  <a:srgbClr val="1E1E2E"/>
                </a:solidFill>
                <a:latin typeface="Calibri"/>
              </a:rPr>
              <a:t>Insertion sort grows a sorted section one element at a time, inserting each new value in place</a:t>
            </a:r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sz="1700" b="0" i="0">
                <a:solidFill>
                  <a:srgbClr val="1E1E2E"/>
                </a:solidFill>
                <a:latin typeface="Calibri"/>
              </a:rPr>
              <a:t>Both are simple but slow — comparisons grow roughly with the square of the list size</a:t>
            </a:r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sz="1700" b="0" i="0">
                <a:solidFill>
                  <a:srgbClr val="1E1E2E"/>
                </a:solidFill>
                <a:latin typeface="Calibri"/>
              </a:rPr>
              <a:t>That's fine for small rosters, but real code leans on the STL's std::sort instead</a:t>
            </a:r>
          </a:p>
        </p:txBody>
      </p:sp>
      <p:sp>
        <p:nvSpPr>
          <p:cNvPr id="6" name="Rectangle 5"/>
          <p:cNvSpPr/>
          <p:nvPr/>
        </p:nvSpPr>
        <p:spPr>
          <a:xfrm>
            <a:off x="7452360" y="1691640"/>
            <a:ext cx="3977639" cy="2926080"/>
          </a:xfrm>
          <a:prstGeom prst="rect">
            <a:avLst/>
          </a:prstGeom>
          <a:solidFill>
            <a:srgbClr val="1E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26679" y="1874519"/>
            <a:ext cx="3474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0A500"/>
                </a:solidFill>
                <a:latin typeface="Calibri"/>
              </a:rPr>
              <a:t>WHY IT MATTERS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26679" y="2240280"/>
            <a:ext cx="347472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400" b="0" i="0">
                <a:solidFill>
                  <a:srgbClr val="F2F2F2"/>
                </a:solidFill>
                <a:latin typeface="Calibri"/>
              </a:rPr>
              <a:t>A sorted roster is what makes binary search possible — and what a printed grade report should look like.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528816"/>
            <a:ext cx="6400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9CA3AF"/>
                </a:solidFill>
                <a:latin typeface="Calibri"/>
              </a:rPr>
              <a:t>C++ FUNDAMENTALS  ·  MODULE 15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528816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9CA3AF"/>
                </a:solidFill>
                <a:latin typeface="Calibri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1109960" y="384048"/>
            <a:ext cx="685800" cy="365760"/>
          </a:xfrm>
          <a:prstGeom prst="rect">
            <a:avLst/>
          </a:prstGeom>
          <a:solidFill>
            <a:srgbClr val="F7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 i="0">
                <a:solidFill>
                  <a:srgbClr val="0E7C7B"/>
                </a:solidFill>
                <a:latin typeface="Consolas"/>
              </a:rPr>
              <a:t>M15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E7C7B"/>
                </a:solidFill>
                <a:latin typeface="Calibri"/>
              </a:rPr>
              <a:t>SORTING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1E1E2E"/>
                </a:solidFill>
                <a:latin typeface="Consolas"/>
              </a:rPr>
              <a:t>Sorting the Roster with sort()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45920"/>
            <a:ext cx="6858000" cy="3231489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645920"/>
            <a:ext cx="6858000" cy="292608"/>
          </a:xfrm>
          <a:prstGeom prst="rect">
            <a:avLst/>
          </a:prstGeom>
          <a:solidFill>
            <a:srgbClr val="2D2D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13232" y="1737360"/>
            <a:ext cx="109728" cy="109728"/>
          </a:xfrm>
          <a:prstGeom prst="ellipse">
            <a:avLst/>
          </a:prstGeom>
          <a:solidFill>
            <a:srgbClr val="FF5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32688" y="1737360"/>
            <a:ext cx="109728" cy="109728"/>
          </a:xfrm>
          <a:prstGeom prst="ellipse">
            <a:avLst/>
          </a:prstGeom>
          <a:solidFill>
            <a:srgbClr val="FFB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52144" y="1737360"/>
            <a:ext cx="109728" cy="109728"/>
          </a:xfrm>
          <a:prstGeom prst="ellipse">
            <a:avLst/>
          </a:prstGeom>
          <a:solidFill>
            <a:srgbClr val="27C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1645920"/>
            <a:ext cx="57607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9B9BA3"/>
                </a:solidFill>
                <a:latin typeface="Consolas"/>
              </a:rPr>
              <a:t>main.cpp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2029968"/>
            <a:ext cx="6309360" cy="29846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ts val="1860"/>
              </a:lnSpc>
            </a:pPr>
            <a:r>
              <a:rPr sz="1400" b="0" i="0">
                <a:solidFill>
                  <a:srgbClr val="C586C0"/>
                </a:solidFill>
                <a:latin typeface="Consolas"/>
              </a:rPr>
              <a:t>#include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 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&lt;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algorithm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&gt;</a:t>
            </a:r>
          </a:p>
          <a:p>
            <a:pPr>
              <a:lnSpc>
                <a:spcPts val="1860"/>
              </a:lnSpc>
            </a:pPr>
            <a:r>
              <a:rPr sz="1400" b="0" i="0">
                <a:solidFill>
                  <a:srgbClr val="569CD6"/>
                </a:solidFill>
                <a:latin typeface="Consolas"/>
              </a:rPr>
              <a:t>using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 </a:t>
            </a:r>
            <a:r>
              <a:rPr sz="1400" b="0" i="0">
                <a:solidFill>
                  <a:srgbClr val="569CD6"/>
                </a:solidFill>
                <a:latin typeface="Consolas"/>
              </a:rPr>
              <a:t>namespace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 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std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;</a:t>
            </a:r>
          </a:p>
          <a:p>
            <a:pPr>
              <a:lnSpc>
                <a:spcPts val="1860"/>
              </a:lnSpc>
            </a:pPr>
            <a:r>
              <a:rPr sz="1400" b="0" i="0">
                <a:solidFill>
                  <a:srgbClr val="D4D4D4"/>
                </a:solidFill>
                <a:latin typeface="Consolas"/>
              </a:rPr>
              <a:t> </a:t>
            </a:r>
          </a:p>
          <a:p>
            <a:pPr>
              <a:lnSpc>
                <a:spcPts val="1860"/>
              </a:lnSpc>
            </a:pPr>
            <a:r>
              <a:rPr sz="1400" b="0" i="0">
                <a:solidFill>
                  <a:srgbClr val="569CD6"/>
                </a:solidFill>
                <a:latin typeface="Consolas"/>
              </a:rPr>
              <a:t>void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 </a:t>
            </a:r>
            <a:r>
              <a:rPr sz="1400" b="0" i="0">
                <a:solidFill>
                  <a:srgbClr val="DCDCAA"/>
                </a:solidFill>
                <a:latin typeface="Consolas"/>
              </a:rPr>
              <a:t>sortByAverage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(</a:t>
            </a:r>
          </a:p>
          <a:p>
            <a:pPr>
              <a:lnSpc>
                <a:spcPts val="1860"/>
              </a:lnSpc>
            </a:pPr>
            <a:r>
              <a:rPr sz="1400" b="0" i="0">
                <a:solidFill>
                  <a:srgbClr val="D4D4D4"/>
                </a:solidFill>
                <a:latin typeface="Consolas"/>
              </a:rPr>
              <a:t>        </a:t>
            </a:r>
            <a:r>
              <a:rPr sz="1400" b="0" i="0">
                <a:solidFill>
                  <a:srgbClr val="4EC9B0"/>
                </a:solidFill>
                <a:latin typeface="Consolas"/>
              </a:rPr>
              <a:t>vector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&lt;</a:t>
            </a:r>
            <a:r>
              <a:rPr sz="1400" b="0" i="0">
                <a:solidFill>
                  <a:srgbClr val="4EC9B0"/>
                </a:solidFill>
                <a:latin typeface="Consolas"/>
              </a:rPr>
              <a:t>Student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&gt;&amp;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 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roster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)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 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{</a:t>
            </a:r>
          </a:p>
          <a:p>
            <a:pPr>
              <a:lnSpc>
                <a:spcPts val="1860"/>
              </a:lnSpc>
            </a:pPr>
            <a:r>
              <a:rPr sz="1400" b="0" i="0">
                <a:solidFill>
                  <a:srgbClr val="D4D4D4"/>
                </a:solidFill>
                <a:latin typeface="Consolas"/>
              </a:rPr>
              <a:t>    </a:t>
            </a:r>
            <a:r>
              <a:rPr sz="1400" b="0" i="0">
                <a:solidFill>
                  <a:srgbClr val="DCDCAA"/>
                </a:solidFill>
                <a:latin typeface="Consolas"/>
              </a:rPr>
              <a:t>sort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(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roster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.</a:t>
            </a:r>
            <a:r>
              <a:rPr sz="1400" b="0" i="0">
                <a:solidFill>
                  <a:srgbClr val="DCDCAA"/>
                </a:solidFill>
                <a:latin typeface="Consolas"/>
              </a:rPr>
              <a:t>begin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(),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 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roster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.</a:t>
            </a:r>
            <a:r>
              <a:rPr sz="1400" b="0" i="0">
                <a:solidFill>
                  <a:srgbClr val="DCDCAA"/>
                </a:solidFill>
                <a:latin typeface="Consolas"/>
              </a:rPr>
              <a:t>end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(),</a:t>
            </a:r>
          </a:p>
          <a:p>
            <a:pPr>
              <a:lnSpc>
                <a:spcPts val="1860"/>
              </a:lnSpc>
            </a:pPr>
            <a:r>
              <a:rPr sz="1400" b="0" i="0">
                <a:solidFill>
                  <a:srgbClr val="D4D4D4"/>
                </a:solidFill>
                <a:latin typeface="Consolas"/>
              </a:rPr>
              <a:t>        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[](</a:t>
            </a:r>
            <a:r>
              <a:rPr sz="1400" b="0" i="0">
                <a:solidFill>
                  <a:srgbClr val="569CD6"/>
                </a:solidFill>
                <a:latin typeface="Consolas"/>
              </a:rPr>
              <a:t>const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 </a:t>
            </a:r>
            <a:r>
              <a:rPr sz="1400" b="0" i="0">
                <a:solidFill>
                  <a:srgbClr val="4EC9B0"/>
                </a:solidFill>
                <a:latin typeface="Consolas"/>
              </a:rPr>
              <a:t>Student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&amp;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 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a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,</a:t>
            </a:r>
          </a:p>
          <a:p>
            <a:pPr>
              <a:lnSpc>
                <a:spcPts val="1860"/>
              </a:lnSpc>
            </a:pPr>
            <a:r>
              <a:rPr sz="1400" b="0" i="0">
                <a:solidFill>
                  <a:srgbClr val="D4D4D4"/>
                </a:solidFill>
                <a:latin typeface="Consolas"/>
              </a:rPr>
              <a:t>           </a:t>
            </a:r>
            <a:r>
              <a:rPr sz="1400" b="0" i="0">
                <a:solidFill>
                  <a:srgbClr val="569CD6"/>
                </a:solidFill>
                <a:latin typeface="Consolas"/>
              </a:rPr>
              <a:t>const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 </a:t>
            </a:r>
            <a:r>
              <a:rPr sz="1400" b="0" i="0">
                <a:solidFill>
                  <a:srgbClr val="4EC9B0"/>
                </a:solidFill>
                <a:latin typeface="Consolas"/>
              </a:rPr>
              <a:t>Student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&amp;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 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b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)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 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{</a:t>
            </a:r>
          </a:p>
          <a:p>
            <a:pPr>
              <a:lnSpc>
                <a:spcPts val="1860"/>
              </a:lnSpc>
            </a:pPr>
            <a:r>
              <a:rPr sz="1400" b="0" i="0">
                <a:solidFill>
                  <a:srgbClr val="D4D4D4"/>
                </a:solidFill>
                <a:latin typeface="Consolas"/>
              </a:rPr>
              <a:t>        </a:t>
            </a:r>
            <a:r>
              <a:rPr sz="1400" b="0" i="0">
                <a:solidFill>
                  <a:srgbClr val="569CD6"/>
                </a:solidFill>
                <a:latin typeface="Consolas"/>
              </a:rPr>
              <a:t>return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 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a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.</a:t>
            </a:r>
            <a:r>
              <a:rPr sz="1400" b="0" i="0">
                <a:solidFill>
                  <a:srgbClr val="DCDCAA"/>
                </a:solidFill>
                <a:latin typeface="Consolas"/>
              </a:rPr>
              <a:t>getPercentage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()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 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&gt;</a:t>
            </a:r>
          </a:p>
          <a:p>
            <a:pPr>
              <a:lnSpc>
                <a:spcPts val="1860"/>
              </a:lnSpc>
            </a:pPr>
            <a:r>
              <a:rPr sz="1400" b="0" i="0">
                <a:solidFill>
                  <a:srgbClr val="D4D4D4"/>
                </a:solidFill>
                <a:latin typeface="Consolas"/>
              </a:rPr>
              <a:t>               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b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.</a:t>
            </a:r>
            <a:r>
              <a:rPr sz="1400" b="0" i="0">
                <a:solidFill>
                  <a:srgbClr val="DCDCAA"/>
                </a:solidFill>
                <a:latin typeface="Consolas"/>
              </a:rPr>
              <a:t>getPercentage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();</a:t>
            </a:r>
          </a:p>
          <a:p>
            <a:pPr>
              <a:lnSpc>
                <a:spcPts val="1860"/>
              </a:lnSpc>
            </a:pPr>
            <a:r>
              <a:rPr sz="1400" b="0" i="0">
                <a:solidFill>
                  <a:srgbClr val="D4D4D4"/>
                </a:solidFill>
                <a:latin typeface="Consolas"/>
              </a:rPr>
              <a:t>    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});</a:t>
            </a:r>
          </a:p>
          <a:p>
            <a:pPr>
              <a:lnSpc>
                <a:spcPts val="1860"/>
              </a:lnSpc>
            </a:pPr>
            <a:r>
              <a:rPr sz="1400" b="0" i="0">
                <a:solidFill>
                  <a:srgbClr val="D4D4D4"/>
                </a:solidFill>
                <a:latin typeface="Consolas"/>
              </a:rPr>
              <a:t>}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35240" y="1645920"/>
            <a:ext cx="3977639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sz="1400" b="0" i="0">
                <a:solidFill>
                  <a:srgbClr val="1E1E2E"/>
                </a:solidFill>
                <a:latin typeface="Calibri"/>
              </a:rPr>
              <a:t>sort() from &lt;algorithm&gt; works on a begin/end iterator range</a:t>
            </a:r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sz="1400" b="0" i="0">
                <a:solidFill>
                  <a:srgbClr val="1E1E2E"/>
                </a:solidFill>
                <a:latin typeface="Calibri"/>
              </a:rPr>
              <a:t>The third argument is a lambda — a small unnamed function written inline</a:t>
            </a:r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sz="1400" b="0" i="0">
                <a:solidFill>
                  <a:srgbClr val="1E1E2E"/>
                </a:solidFill>
                <a:latin typeface="Calibri"/>
              </a:rPr>
              <a:t>Comparing with &gt; sorts highest percentage first</a:t>
            </a:r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sz="1400" b="0" i="0">
                <a:solidFill>
                  <a:srgbClr val="1E1E2E"/>
                </a:solidFill>
                <a:latin typeface="Calibri"/>
              </a:rPr>
              <a:t>One call replaces writing your own bubble or insertion sort by hand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528816"/>
            <a:ext cx="6400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9CA3AF"/>
                </a:solidFill>
                <a:latin typeface="Calibri"/>
              </a:rPr>
              <a:t>C++ FUNDAMENTALS  ·  MODULE 15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38560" y="6528816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9CA3AF"/>
                </a:solidFill>
                <a:latin typeface="Calibri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1109960" y="384048"/>
            <a:ext cx="685800" cy="365760"/>
          </a:xfrm>
          <a:prstGeom prst="rect">
            <a:avLst/>
          </a:prstGeom>
          <a:solidFill>
            <a:srgbClr val="F7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 i="0">
                <a:solidFill>
                  <a:srgbClr val="0E7C7B"/>
                </a:solidFill>
                <a:latin typeface="Consolas"/>
              </a:rPr>
              <a:t>M15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E7C7B"/>
                </a:solidFill>
                <a:latin typeface="Calibri"/>
              </a:rPr>
              <a:t>SEARCHING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1E1E2E"/>
                </a:solidFill>
                <a:latin typeface="Consolas"/>
              </a:rPr>
              <a:t>Binary Search: Divide and Conquer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45920"/>
            <a:ext cx="6858000" cy="3005632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645920"/>
            <a:ext cx="6858000" cy="292608"/>
          </a:xfrm>
          <a:prstGeom prst="rect">
            <a:avLst/>
          </a:prstGeom>
          <a:solidFill>
            <a:srgbClr val="2D2D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13232" y="1737360"/>
            <a:ext cx="109728" cy="109728"/>
          </a:xfrm>
          <a:prstGeom prst="ellipse">
            <a:avLst/>
          </a:prstGeom>
          <a:solidFill>
            <a:srgbClr val="FF5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32688" y="1737360"/>
            <a:ext cx="109728" cy="109728"/>
          </a:xfrm>
          <a:prstGeom prst="ellipse">
            <a:avLst/>
          </a:prstGeom>
          <a:solidFill>
            <a:srgbClr val="FFB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52144" y="1737360"/>
            <a:ext cx="109728" cy="109728"/>
          </a:xfrm>
          <a:prstGeom prst="ellipse">
            <a:avLst/>
          </a:prstGeom>
          <a:solidFill>
            <a:srgbClr val="27C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1645920"/>
            <a:ext cx="57607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9B9BA3"/>
                </a:solidFill>
                <a:latin typeface="Consolas"/>
              </a:rPr>
              <a:t>main.cpp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2029968"/>
            <a:ext cx="6309360" cy="2758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ts val="1860"/>
              </a:lnSpc>
            </a:pPr>
            <a:r>
              <a:rPr sz="1400" b="0" i="0">
                <a:solidFill>
                  <a:srgbClr val="569CD6"/>
                </a:solidFill>
                <a:latin typeface="Consolas"/>
              </a:rPr>
              <a:t>int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 </a:t>
            </a:r>
            <a:r>
              <a:rPr sz="1400" b="0" i="0">
                <a:solidFill>
                  <a:srgbClr val="DCDCAA"/>
                </a:solidFill>
                <a:latin typeface="Consolas"/>
              </a:rPr>
              <a:t>binarySearch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(</a:t>
            </a:r>
          </a:p>
          <a:p>
            <a:pPr>
              <a:lnSpc>
                <a:spcPts val="1860"/>
              </a:lnSpc>
            </a:pPr>
            <a:r>
              <a:rPr sz="1400" b="0" i="0">
                <a:solidFill>
                  <a:srgbClr val="D4D4D4"/>
                </a:solidFill>
                <a:latin typeface="Consolas"/>
              </a:rPr>
              <a:t>        </a:t>
            </a:r>
            <a:r>
              <a:rPr sz="1400" b="0" i="0">
                <a:solidFill>
                  <a:srgbClr val="569CD6"/>
                </a:solidFill>
                <a:latin typeface="Consolas"/>
              </a:rPr>
              <a:t>const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 </a:t>
            </a:r>
            <a:r>
              <a:rPr sz="1400" b="0" i="0">
                <a:solidFill>
                  <a:srgbClr val="4EC9B0"/>
                </a:solidFill>
                <a:latin typeface="Consolas"/>
              </a:rPr>
              <a:t>vector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&lt;</a:t>
            </a:r>
            <a:r>
              <a:rPr sz="1400" b="0" i="0">
                <a:solidFill>
                  <a:srgbClr val="569CD6"/>
                </a:solidFill>
                <a:latin typeface="Consolas"/>
              </a:rPr>
              <a:t>int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&gt;&amp;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 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sorted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,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 </a:t>
            </a:r>
            <a:r>
              <a:rPr sz="1400" b="0" i="0">
                <a:solidFill>
                  <a:srgbClr val="569CD6"/>
                </a:solidFill>
                <a:latin typeface="Consolas"/>
              </a:rPr>
              <a:t>int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 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target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)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 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{</a:t>
            </a:r>
          </a:p>
          <a:p>
            <a:pPr>
              <a:lnSpc>
                <a:spcPts val="1860"/>
              </a:lnSpc>
            </a:pPr>
            <a:r>
              <a:rPr sz="1400" b="0" i="0">
                <a:solidFill>
                  <a:srgbClr val="D4D4D4"/>
                </a:solidFill>
                <a:latin typeface="Consolas"/>
              </a:rPr>
              <a:t>    </a:t>
            </a:r>
            <a:r>
              <a:rPr sz="1400" b="0" i="0">
                <a:solidFill>
                  <a:srgbClr val="569CD6"/>
                </a:solidFill>
                <a:latin typeface="Consolas"/>
              </a:rPr>
              <a:t>int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 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low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 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=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 </a:t>
            </a:r>
            <a:r>
              <a:rPr sz="1400" b="0" i="0">
                <a:solidFill>
                  <a:srgbClr val="B5CEA8"/>
                </a:solidFill>
                <a:latin typeface="Consolas"/>
              </a:rPr>
              <a:t>0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,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 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high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 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=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 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sorted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.</a:t>
            </a:r>
            <a:r>
              <a:rPr sz="1400" b="0" i="0">
                <a:solidFill>
                  <a:srgbClr val="DCDCAA"/>
                </a:solidFill>
                <a:latin typeface="Consolas"/>
              </a:rPr>
              <a:t>size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()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 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-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 </a:t>
            </a:r>
            <a:r>
              <a:rPr sz="1400" b="0" i="0">
                <a:solidFill>
                  <a:srgbClr val="B5CEA8"/>
                </a:solidFill>
                <a:latin typeface="Consolas"/>
              </a:rPr>
              <a:t>1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;</a:t>
            </a:r>
          </a:p>
          <a:p>
            <a:pPr>
              <a:lnSpc>
                <a:spcPts val="1860"/>
              </a:lnSpc>
            </a:pPr>
            <a:r>
              <a:rPr sz="1400" b="0" i="0">
                <a:solidFill>
                  <a:srgbClr val="D4D4D4"/>
                </a:solidFill>
                <a:latin typeface="Consolas"/>
              </a:rPr>
              <a:t>    </a:t>
            </a:r>
            <a:r>
              <a:rPr sz="1400" b="0" i="0">
                <a:solidFill>
                  <a:srgbClr val="569CD6"/>
                </a:solidFill>
                <a:latin typeface="Consolas"/>
              </a:rPr>
              <a:t>while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 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(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low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 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&lt;=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 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high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)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 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{</a:t>
            </a:r>
          </a:p>
          <a:p>
            <a:pPr>
              <a:lnSpc>
                <a:spcPts val="1860"/>
              </a:lnSpc>
            </a:pPr>
            <a:r>
              <a:rPr sz="1400" b="0" i="0">
                <a:solidFill>
                  <a:srgbClr val="D4D4D4"/>
                </a:solidFill>
                <a:latin typeface="Consolas"/>
              </a:rPr>
              <a:t>        </a:t>
            </a:r>
            <a:r>
              <a:rPr sz="1400" b="0" i="0">
                <a:solidFill>
                  <a:srgbClr val="569CD6"/>
                </a:solidFill>
                <a:latin typeface="Consolas"/>
              </a:rPr>
              <a:t>int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 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mid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 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=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 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(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low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 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+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 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high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)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 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/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 </a:t>
            </a:r>
            <a:r>
              <a:rPr sz="1400" b="0" i="0">
                <a:solidFill>
                  <a:srgbClr val="B5CEA8"/>
                </a:solidFill>
                <a:latin typeface="Consolas"/>
              </a:rPr>
              <a:t>2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;</a:t>
            </a:r>
          </a:p>
          <a:p>
            <a:pPr>
              <a:lnSpc>
                <a:spcPts val="1860"/>
              </a:lnSpc>
            </a:pPr>
            <a:r>
              <a:rPr sz="1400" b="0" i="0">
                <a:solidFill>
                  <a:srgbClr val="D4D4D4"/>
                </a:solidFill>
                <a:latin typeface="Consolas"/>
              </a:rPr>
              <a:t>        </a:t>
            </a:r>
            <a:r>
              <a:rPr sz="1400" b="0" i="0">
                <a:solidFill>
                  <a:srgbClr val="569CD6"/>
                </a:solidFill>
                <a:latin typeface="Consolas"/>
              </a:rPr>
              <a:t>if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 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(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sorted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[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mid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]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 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==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 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target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)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 </a:t>
            </a:r>
            <a:r>
              <a:rPr sz="1400" b="0" i="0">
                <a:solidFill>
                  <a:srgbClr val="569CD6"/>
                </a:solidFill>
                <a:latin typeface="Consolas"/>
              </a:rPr>
              <a:t>return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 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mid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;</a:t>
            </a:r>
          </a:p>
          <a:p>
            <a:pPr>
              <a:lnSpc>
                <a:spcPts val="1860"/>
              </a:lnSpc>
            </a:pPr>
            <a:r>
              <a:rPr sz="1400" b="0" i="0">
                <a:solidFill>
                  <a:srgbClr val="D4D4D4"/>
                </a:solidFill>
                <a:latin typeface="Consolas"/>
              </a:rPr>
              <a:t>        </a:t>
            </a:r>
            <a:r>
              <a:rPr sz="1400" b="0" i="0">
                <a:solidFill>
                  <a:srgbClr val="569CD6"/>
                </a:solidFill>
                <a:latin typeface="Consolas"/>
              </a:rPr>
              <a:t>if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 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(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sorted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[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mid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]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 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&lt;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 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target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)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 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low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 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=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 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mid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 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+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 </a:t>
            </a:r>
            <a:r>
              <a:rPr sz="1400" b="0" i="0">
                <a:solidFill>
                  <a:srgbClr val="B5CEA8"/>
                </a:solidFill>
                <a:latin typeface="Consolas"/>
              </a:rPr>
              <a:t>1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;</a:t>
            </a:r>
          </a:p>
          <a:p>
            <a:pPr>
              <a:lnSpc>
                <a:spcPts val="1860"/>
              </a:lnSpc>
            </a:pPr>
            <a:r>
              <a:rPr sz="1400" b="0" i="0">
                <a:solidFill>
                  <a:srgbClr val="D4D4D4"/>
                </a:solidFill>
                <a:latin typeface="Consolas"/>
              </a:rPr>
              <a:t>        </a:t>
            </a:r>
            <a:r>
              <a:rPr sz="1400" b="0" i="0">
                <a:solidFill>
                  <a:srgbClr val="569CD6"/>
                </a:solidFill>
                <a:latin typeface="Consolas"/>
              </a:rPr>
              <a:t>else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 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high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 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=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 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mid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 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-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 </a:t>
            </a:r>
            <a:r>
              <a:rPr sz="1400" b="0" i="0">
                <a:solidFill>
                  <a:srgbClr val="B5CEA8"/>
                </a:solidFill>
                <a:latin typeface="Consolas"/>
              </a:rPr>
              <a:t>1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;</a:t>
            </a:r>
          </a:p>
          <a:p>
            <a:pPr>
              <a:lnSpc>
                <a:spcPts val="1860"/>
              </a:lnSpc>
            </a:pPr>
            <a:r>
              <a:rPr sz="1400" b="0" i="0">
                <a:solidFill>
                  <a:srgbClr val="D4D4D4"/>
                </a:solidFill>
                <a:latin typeface="Consolas"/>
              </a:rPr>
              <a:t>    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}</a:t>
            </a:r>
          </a:p>
          <a:p>
            <a:pPr>
              <a:lnSpc>
                <a:spcPts val="1860"/>
              </a:lnSpc>
            </a:pPr>
            <a:r>
              <a:rPr sz="1400" b="0" i="0">
                <a:solidFill>
                  <a:srgbClr val="D4D4D4"/>
                </a:solidFill>
                <a:latin typeface="Consolas"/>
              </a:rPr>
              <a:t>    </a:t>
            </a:r>
            <a:r>
              <a:rPr sz="1400" b="0" i="0">
                <a:solidFill>
                  <a:srgbClr val="569CD6"/>
                </a:solidFill>
                <a:latin typeface="Consolas"/>
              </a:rPr>
              <a:t>return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 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-</a:t>
            </a:r>
            <a:r>
              <a:rPr sz="1400" b="0" i="0">
                <a:solidFill>
                  <a:srgbClr val="B5CEA8"/>
                </a:solidFill>
                <a:latin typeface="Consolas"/>
              </a:rPr>
              <a:t>1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;</a:t>
            </a:r>
          </a:p>
          <a:p>
            <a:pPr>
              <a:lnSpc>
                <a:spcPts val="1860"/>
              </a:lnSpc>
            </a:pPr>
            <a:r>
              <a:rPr sz="1400" b="0" i="0">
                <a:solidFill>
                  <a:srgbClr val="D4D4D4"/>
                </a:solidFill>
                <a:latin typeface="Consolas"/>
              </a:rPr>
              <a:t>}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35240" y="1645920"/>
            <a:ext cx="3977639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sz="1400" b="0" i="0">
                <a:solidFill>
                  <a:srgbClr val="1E1E2E"/>
                </a:solidFill>
                <a:latin typeface="Calibri"/>
              </a:rPr>
              <a:t>Only works on a sorted list — that's the tradeoff for the speed</a:t>
            </a:r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sz="1400" b="0" i="0">
                <a:solidFill>
                  <a:srgbClr val="1E1E2E"/>
                </a:solidFill>
                <a:latin typeface="Calibri"/>
              </a:rPr>
              <a:t>Compares the target to the middle element, then discards half the list</a:t>
            </a:r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sz="1400" b="0" i="0">
                <a:solidFill>
                  <a:srgbClr val="1E1E2E"/>
                </a:solidFill>
                <a:latin typeface="Calibri"/>
              </a:rPr>
              <a:t>Repeats on the half that's left until it finds the value or runs out</a:t>
            </a:r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sz="1400" b="0" i="0">
                <a:solidFill>
                  <a:srgbClr val="1E1E2E"/>
                </a:solidFill>
                <a:latin typeface="Calibri"/>
              </a:rPr>
              <a:t>A 1,000-item list takes about 10 comparisons instead of 500</a:t>
            </a:r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sz="1400" b="0" i="0">
                <a:solidFill>
                  <a:srgbClr val="1E1E2E"/>
                </a:solidFill>
                <a:latin typeface="Calibri"/>
              </a:rPr>
              <a:t>Swap int for Student and this searches a sorted roster by ID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528816"/>
            <a:ext cx="6400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9CA3AF"/>
                </a:solidFill>
                <a:latin typeface="Calibri"/>
              </a:rPr>
              <a:t>C++ FUNDAMENTALS  ·  MODULE 15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38560" y="6528816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9CA3AF"/>
                </a:solidFill>
                <a:latin typeface="Calibri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1109960" y="384048"/>
            <a:ext cx="685800" cy="365760"/>
          </a:xfrm>
          <a:prstGeom prst="rect">
            <a:avLst/>
          </a:prstGeom>
          <a:solidFill>
            <a:srgbClr val="F7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 i="0">
                <a:solidFill>
                  <a:srgbClr val="0E7C7B"/>
                </a:solidFill>
                <a:latin typeface="Consolas"/>
              </a:rPr>
              <a:t>M15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E7C7B"/>
                </a:solidFill>
                <a:latin typeface="Calibri"/>
              </a:rPr>
              <a:t>FILE I/O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1E1E2E"/>
                </a:solidFill>
                <a:latin typeface="Consolas"/>
              </a:rPr>
              <a:t>Saving Data with &lt;fstream&gt;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91640"/>
            <a:ext cx="658368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sz="1700" b="0" i="0">
                <a:solidFill>
                  <a:srgbClr val="1E1E2E"/>
                </a:solidFill>
                <a:latin typeface="Calibri"/>
              </a:rPr>
              <a:t>Every Student and Course you've built so far lives only in memory until now</a:t>
            </a:r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sz="1700" b="0" i="0">
                <a:solidFill>
                  <a:srgbClr val="1E1E2E"/>
                </a:solidFill>
                <a:latin typeface="Calibri"/>
              </a:rPr>
              <a:t>#include &lt;fstream&gt; adds two stream types: ofstream for writing, ifstream for reading</a:t>
            </a:r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sz="1700" b="0" i="0">
                <a:solidFill>
                  <a:srgbClr val="1E1E2E"/>
                </a:solidFill>
                <a:latin typeface="Calibri"/>
              </a:rPr>
              <a:t>The pattern is always the same: open the file, use it, then close it</a:t>
            </a:r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sz="1700" b="0" i="0">
                <a:solidFill>
                  <a:srgbClr val="1E1E2E"/>
                </a:solidFill>
                <a:latin typeface="Calibri"/>
              </a:rPr>
              <a:t>Always check .is_open() first — a missing file isn't a crash, it's just an empty roster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452360" y="1691640"/>
            <a:ext cx="3977639" cy="2926080"/>
          </a:xfrm>
          <a:prstGeom prst="rect">
            <a:avLst/>
          </a:prstGeom>
          <a:solidFill>
            <a:srgbClr val="1E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26679" y="1874519"/>
            <a:ext cx="3474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0A500"/>
                </a:solidFill>
                <a:latin typeface="Calibri"/>
              </a:rPr>
              <a:t>MEMORY VS. DISK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26679" y="2240280"/>
            <a:ext cx="347472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400" b="0" i="0">
                <a:solidFill>
                  <a:srgbClr val="F2F2F2"/>
                </a:solidFill>
                <a:latin typeface="Calibri"/>
              </a:rPr>
              <a:t>Variables vanish the moment main() returns. Files on disk survive until something deletes them.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528816"/>
            <a:ext cx="6400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9CA3AF"/>
                </a:solidFill>
                <a:latin typeface="Calibri"/>
              </a:rPr>
              <a:t>C++ FUNDAMENTALS  ·  MODULE 15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528816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9CA3AF"/>
                </a:solidFill>
                <a:latin typeface="Calibri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1109960" y="384048"/>
            <a:ext cx="685800" cy="365760"/>
          </a:xfrm>
          <a:prstGeom prst="rect">
            <a:avLst/>
          </a:prstGeom>
          <a:solidFill>
            <a:srgbClr val="F7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 i="0">
                <a:solidFill>
                  <a:srgbClr val="0E7C7B"/>
                </a:solidFill>
                <a:latin typeface="Consolas"/>
              </a:rPr>
              <a:t>M15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E7C7B"/>
                </a:solidFill>
                <a:latin typeface="Calibri"/>
              </a:rPr>
              <a:t>FILE I/O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1E1E2E"/>
                </a:solidFill>
                <a:latin typeface="Consolas"/>
              </a:rPr>
              <a:t>Writing the Roster to a File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45920"/>
            <a:ext cx="6858000" cy="3427171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645920"/>
            <a:ext cx="6858000" cy="292608"/>
          </a:xfrm>
          <a:prstGeom prst="rect">
            <a:avLst/>
          </a:prstGeom>
          <a:solidFill>
            <a:srgbClr val="2D2D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13232" y="1737360"/>
            <a:ext cx="109728" cy="109728"/>
          </a:xfrm>
          <a:prstGeom prst="ellipse">
            <a:avLst/>
          </a:prstGeom>
          <a:solidFill>
            <a:srgbClr val="FF5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32688" y="1737360"/>
            <a:ext cx="109728" cy="109728"/>
          </a:xfrm>
          <a:prstGeom prst="ellipse">
            <a:avLst/>
          </a:prstGeom>
          <a:solidFill>
            <a:srgbClr val="FFB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52144" y="1737360"/>
            <a:ext cx="109728" cy="109728"/>
          </a:xfrm>
          <a:prstGeom prst="ellipse">
            <a:avLst/>
          </a:prstGeom>
          <a:solidFill>
            <a:srgbClr val="27C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1645920"/>
            <a:ext cx="57607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9B9BA3"/>
                </a:solidFill>
                <a:latin typeface="Consolas"/>
              </a:rPr>
              <a:t>main.cpp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2029968"/>
            <a:ext cx="6309360" cy="31802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ts val="1660"/>
              </a:lnSpc>
            </a:pPr>
            <a:r>
              <a:rPr sz="1200" b="0" i="0">
                <a:solidFill>
                  <a:srgbClr val="569CD6"/>
                </a:solidFill>
                <a:latin typeface="Consolas"/>
              </a:rPr>
              <a:t>void</a:t>
            </a:r>
            <a:r>
              <a:rPr sz="1200" b="0" i="0">
                <a:solidFill>
                  <a:srgbClr val="D4D4D4"/>
                </a:solidFill>
                <a:latin typeface="Consolas"/>
              </a:rPr>
              <a:t> </a:t>
            </a:r>
            <a:r>
              <a:rPr sz="1200" b="0" i="0">
                <a:solidFill>
                  <a:srgbClr val="DCDCAA"/>
                </a:solidFill>
                <a:latin typeface="Consolas"/>
              </a:rPr>
              <a:t>saveRoster</a:t>
            </a:r>
            <a:r>
              <a:rPr sz="1200" b="0" i="0">
                <a:solidFill>
                  <a:srgbClr val="D4D4D4"/>
                </a:solidFill>
                <a:latin typeface="Consolas"/>
              </a:rPr>
              <a:t>(</a:t>
            </a:r>
            <a:r>
              <a:rPr sz="1200" b="0" i="0">
                <a:solidFill>
                  <a:srgbClr val="569CD6"/>
                </a:solidFill>
                <a:latin typeface="Consolas"/>
              </a:rPr>
              <a:t>const</a:t>
            </a:r>
            <a:r>
              <a:rPr sz="1200" b="0" i="0">
                <a:solidFill>
                  <a:srgbClr val="D4D4D4"/>
                </a:solidFill>
                <a:latin typeface="Consolas"/>
              </a:rPr>
              <a:t> </a:t>
            </a:r>
            <a:r>
              <a:rPr sz="1200" b="0" i="0">
                <a:solidFill>
                  <a:srgbClr val="4EC9B0"/>
                </a:solidFill>
                <a:latin typeface="Consolas"/>
              </a:rPr>
              <a:t>vector</a:t>
            </a:r>
            <a:r>
              <a:rPr sz="1200" b="0" i="0">
                <a:solidFill>
                  <a:srgbClr val="D4D4D4"/>
                </a:solidFill>
                <a:latin typeface="Consolas"/>
              </a:rPr>
              <a:t>&lt;</a:t>
            </a:r>
            <a:r>
              <a:rPr sz="1200" b="0" i="0">
                <a:solidFill>
                  <a:srgbClr val="4EC9B0"/>
                </a:solidFill>
                <a:latin typeface="Consolas"/>
              </a:rPr>
              <a:t>Student</a:t>
            </a:r>
            <a:r>
              <a:rPr sz="1200" b="0" i="0">
                <a:solidFill>
                  <a:srgbClr val="D4D4D4"/>
                </a:solidFill>
                <a:latin typeface="Consolas"/>
              </a:rPr>
              <a:t>&gt;&amp;</a:t>
            </a:r>
            <a:r>
              <a:rPr sz="1200" b="0" i="0">
                <a:solidFill>
                  <a:srgbClr val="D4D4D4"/>
                </a:solidFill>
                <a:latin typeface="Consolas"/>
              </a:rPr>
              <a:t> </a:t>
            </a:r>
            <a:r>
              <a:rPr sz="1200" b="0" i="0">
                <a:solidFill>
                  <a:srgbClr val="D4D4D4"/>
                </a:solidFill>
                <a:latin typeface="Consolas"/>
              </a:rPr>
              <a:t>roster</a:t>
            </a:r>
            <a:r>
              <a:rPr sz="1200" b="0" i="0">
                <a:solidFill>
                  <a:srgbClr val="D4D4D4"/>
                </a:solidFill>
                <a:latin typeface="Consolas"/>
              </a:rPr>
              <a:t>)</a:t>
            </a:r>
            <a:r>
              <a:rPr sz="1200" b="0" i="0">
                <a:solidFill>
                  <a:srgbClr val="D4D4D4"/>
                </a:solidFill>
                <a:latin typeface="Consolas"/>
              </a:rPr>
              <a:t> </a:t>
            </a:r>
            <a:r>
              <a:rPr sz="1200" b="0" i="0">
                <a:solidFill>
                  <a:srgbClr val="D4D4D4"/>
                </a:solidFill>
                <a:latin typeface="Consolas"/>
              </a:rPr>
              <a:t>{</a:t>
            </a:r>
          </a:p>
          <a:p>
            <a:pPr>
              <a:lnSpc>
                <a:spcPts val="1660"/>
              </a:lnSpc>
            </a:pPr>
            <a:r>
              <a:rPr sz="1200" b="0" i="0">
                <a:solidFill>
                  <a:srgbClr val="D4D4D4"/>
                </a:solidFill>
                <a:latin typeface="Consolas"/>
              </a:rPr>
              <a:t>    </a:t>
            </a:r>
            <a:r>
              <a:rPr sz="1200" b="0" i="0">
                <a:solidFill>
                  <a:srgbClr val="4EC9B0"/>
                </a:solidFill>
                <a:latin typeface="Consolas"/>
              </a:rPr>
              <a:t>ofstream</a:t>
            </a:r>
            <a:r>
              <a:rPr sz="1200" b="0" i="0">
                <a:solidFill>
                  <a:srgbClr val="D4D4D4"/>
                </a:solidFill>
                <a:latin typeface="Consolas"/>
              </a:rPr>
              <a:t> </a:t>
            </a:r>
            <a:r>
              <a:rPr sz="1200" b="0" i="0">
                <a:solidFill>
                  <a:srgbClr val="DCDCAA"/>
                </a:solidFill>
                <a:latin typeface="Consolas"/>
              </a:rPr>
              <a:t>outFile</a:t>
            </a:r>
            <a:r>
              <a:rPr sz="1200" b="0" i="0">
                <a:solidFill>
                  <a:srgbClr val="D4D4D4"/>
                </a:solidFill>
                <a:latin typeface="Consolas"/>
              </a:rPr>
              <a:t>("</a:t>
            </a:r>
            <a:r>
              <a:rPr sz="1200" b="0" i="0">
                <a:solidFill>
                  <a:srgbClr val="D4D4D4"/>
                </a:solidFill>
                <a:latin typeface="Consolas"/>
              </a:rPr>
              <a:t>roster</a:t>
            </a:r>
            <a:r>
              <a:rPr sz="1200" b="0" i="0">
                <a:solidFill>
                  <a:srgbClr val="D4D4D4"/>
                </a:solidFill>
                <a:latin typeface="Consolas"/>
              </a:rPr>
              <a:t>.</a:t>
            </a:r>
            <a:r>
              <a:rPr sz="1200" b="0" i="0">
                <a:solidFill>
                  <a:srgbClr val="D4D4D4"/>
                </a:solidFill>
                <a:latin typeface="Consolas"/>
              </a:rPr>
              <a:t>txt</a:t>
            </a:r>
            <a:r>
              <a:rPr sz="1200" b="0" i="0">
                <a:solidFill>
                  <a:srgbClr val="D4D4D4"/>
                </a:solidFill>
                <a:latin typeface="Consolas"/>
              </a:rPr>
              <a:t>");</a:t>
            </a:r>
          </a:p>
          <a:p>
            <a:pPr>
              <a:lnSpc>
                <a:spcPts val="1660"/>
              </a:lnSpc>
            </a:pPr>
            <a:r>
              <a:rPr sz="1200" b="0" i="0">
                <a:solidFill>
                  <a:srgbClr val="D4D4D4"/>
                </a:solidFill>
                <a:latin typeface="Consolas"/>
              </a:rPr>
              <a:t>    </a:t>
            </a:r>
            <a:r>
              <a:rPr sz="1200" b="0" i="0">
                <a:solidFill>
                  <a:srgbClr val="569CD6"/>
                </a:solidFill>
                <a:latin typeface="Consolas"/>
              </a:rPr>
              <a:t>if</a:t>
            </a:r>
            <a:r>
              <a:rPr sz="1200" b="0" i="0">
                <a:solidFill>
                  <a:srgbClr val="D4D4D4"/>
                </a:solidFill>
                <a:latin typeface="Consolas"/>
              </a:rPr>
              <a:t> </a:t>
            </a:r>
            <a:r>
              <a:rPr sz="1200" b="0" i="0">
                <a:solidFill>
                  <a:srgbClr val="D4D4D4"/>
                </a:solidFill>
                <a:latin typeface="Consolas"/>
              </a:rPr>
              <a:t>(!</a:t>
            </a:r>
            <a:r>
              <a:rPr sz="1200" b="0" i="0">
                <a:solidFill>
                  <a:srgbClr val="D4D4D4"/>
                </a:solidFill>
                <a:latin typeface="Consolas"/>
              </a:rPr>
              <a:t>outFile</a:t>
            </a:r>
            <a:r>
              <a:rPr sz="1200" b="0" i="0">
                <a:solidFill>
                  <a:srgbClr val="D4D4D4"/>
                </a:solidFill>
                <a:latin typeface="Consolas"/>
              </a:rPr>
              <a:t>.</a:t>
            </a:r>
            <a:r>
              <a:rPr sz="1200" b="0" i="0">
                <a:solidFill>
                  <a:srgbClr val="DCDCAA"/>
                </a:solidFill>
                <a:latin typeface="Consolas"/>
              </a:rPr>
              <a:t>is_open</a:t>
            </a:r>
            <a:r>
              <a:rPr sz="1200" b="0" i="0">
                <a:solidFill>
                  <a:srgbClr val="D4D4D4"/>
                </a:solidFill>
                <a:latin typeface="Consolas"/>
              </a:rPr>
              <a:t>())</a:t>
            </a:r>
            <a:r>
              <a:rPr sz="1200" b="0" i="0">
                <a:solidFill>
                  <a:srgbClr val="D4D4D4"/>
                </a:solidFill>
                <a:latin typeface="Consolas"/>
              </a:rPr>
              <a:t> </a:t>
            </a:r>
            <a:r>
              <a:rPr sz="1200" b="0" i="0">
                <a:solidFill>
                  <a:srgbClr val="D4D4D4"/>
                </a:solidFill>
                <a:latin typeface="Consolas"/>
              </a:rPr>
              <a:t>{</a:t>
            </a:r>
          </a:p>
          <a:p>
            <a:pPr>
              <a:lnSpc>
                <a:spcPts val="1660"/>
              </a:lnSpc>
            </a:pPr>
            <a:r>
              <a:rPr sz="1200" b="0" i="0">
                <a:solidFill>
                  <a:srgbClr val="D4D4D4"/>
                </a:solidFill>
                <a:latin typeface="Consolas"/>
              </a:rPr>
              <a:t>        </a:t>
            </a:r>
            <a:r>
              <a:rPr sz="1200" b="0" i="0">
                <a:solidFill>
                  <a:srgbClr val="D4D4D4"/>
                </a:solidFill>
                <a:latin typeface="Consolas"/>
              </a:rPr>
              <a:t>cout</a:t>
            </a:r>
            <a:r>
              <a:rPr sz="1200" b="0" i="0">
                <a:solidFill>
                  <a:srgbClr val="D4D4D4"/>
                </a:solidFill>
                <a:latin typeface="Consolas"/>
              </a:rPr>
              <a:t> </a:t>
            </a:r>
            <a:r>
              <a:rPr sz="1200" b="0" i="0">
                <a:solidFill>
                  <a:srgbClr val="D4D4D4"/>
                </a:solidFill>
                <a:latin typeface="Consolas"/>
              </a:rPr>
              <a:t>&lt;&lt;</a:t>
            </a:r>
            <a:r>
              <a:rPr sz="1200" b="0" i="0">
                <a:solidFill>
                  <a:srgbClr val="D4D4D4"/>
                </a:solidFill>
                <a:latin typeface="Consolas"/>
              </a:rPr>
              <a:t> </a:t>
            </a:r>
            <a:r>
              <a:rPr sz="1200" b="0" i="0">
                <a:solidFill>
                  <a:srgbClr val="CE9178"/>
                </a:solidFill>
                <a:latin typeface="Consolas"/>
              </a:rPr>
              <a:t>"Could not save file.\n"</a:t>
            </a:r>
            <a:r>
              <a:rPr sz="1200" b="0" i="0">
                <a:solidFill>
                  <a:srgbClr val="D4D4D4"/>
                </a:solidFill>
                <a:latin typeface="Consolas"/>
              </a:rPr>
              <a:t>;</a:t>
            </a:r>
          </a:p>
          <a:p>
            <a:pPr>
              <a:lnSpc>
                <a:spcPts val="1660"/>
              </a:lnSpc>
            </a:pPr>
            <a:r>
              <a:rPr sz="1200" b="0" i="0">
                <a:solidFill>
                  <a:srgbClr val="D4D4D4"/>
                </a:solidFill>
                <a:latin typeface="Consolas"/>
              </a:rPr>
              <a:t>        </a:t>
            </a:r>
            <a:r>
              <a:rPr sz="1200" b="0" i="0">
                <a:solidFill>
                  <a:srgbClr val="569CD6"/>
                </a:solidFill>
                <a:latin typeface="Consolas"/>
              </a:rPr>
              <a:t>return</a:t>
            </a:r>
            <a:r>
              <a:rPr sz="1200" b="0" i="0">
                <a:solidFill>
                  <a:srgbClr val="D4D4D4"/>
                </a:solidFill>
                <a:latin typeface="Consolas"/>
              </a:rPr>
              <a:t>;</a:t>
            </a:r>
          </a:p>
          <a:p>
            <a:pPr>
              <a:lnSpc>
                <a:spcPts val="1660"/>
              </a:lnSpc>
            </a:pPr>
            <a:r>
              <a:rPr sz="1200" b="0" i="0">
                <a:solidFill>
                  <a:srgbClr val="D4D4D4"/>
                </a:solidFill>
                <a:latin typeface="Consolas"/>
              </a:rPr>
              <a:t>    </a:t>
            </a:r>
            <a:r>
              <a:rPr sz="1200" b="0" i="0">
                <a:solidFill>
                  <a:srgbClr val="D4D4D4"/>
                </a:solidFill>
                <a:latin typeface="Consolas"/>
              </a:rPr>
              <a:t>}</a:t>
            </a:r>
          </a:p>
          <a:p>
            <a:pPr>
              <a:lnSpc>
                <a:spcPts val="1660"/>
              </a:lnSpc>
            </a:pPr>
            <a:r>
              <a:rPr sz="1200" b="0" i="0">
                <a:solidFill>
                  <a:srgbClr val="D4D4D4"/>
                </a:solidFill>
                <a:latin typeface="Consolas"/>
              </a:rPr>
              <a:t>    </a:t>
            </a:r>
            <a:r>
              <a:rPr sz="1200" b="0" i="0">
                <a:solidFill>
                  <a:srgbClr val="569CD6"/>
                </a:solidFill>
                <a:latin typeface="Consolas"/>
              </a:rPr>
              <a:t>for</a:t>
            </a:r>
            <a:r>
              <a:rPr sz="1200" b="0" i="0">
                <a:solidFill>
                  <a:srgbClr val="D4D4D4"/>
                </a:solidFill>
                <a:latin typeface="Consolas"/>
              </a:rPr>
              <a:t> </a:t>
            </a:r>
            <a:r>
              <a:rPr sz="1200" b="0" i="0">
                <a:solidFill>
                  <a:srgbClr val="D4D4D4"/>
                </a:solidFill>
                <a:latin typeface="Consolas"/>
              </a:rPr>
              <a:t>(</a:t>
            </a:r>
            <a:r>
              <a:rPr sz="1200" b="0" i="0">
                <a:solidFill>
                  <a:srgbClr val="569CD6"/>
                </a:solidFill>
                <a:latin typeface="Consolas"/>
              </a:rPr>
              <a:t>const</a:t>
            </a:r>
            <a:r>
              <a:rPr sz="1200" b="0" i="0">
                <a:solidFill>
                  <a:srgbClr val="D4D4D4"/>
                </a:solidFill>
                <a:latin typeface="Consolas"/>
              </a:rPr>
              <a:t> </a:t>
            </a:r>
            <a:r>
              <a:rPr sz="1200" b="0" i="0">
                <a:solidFill>
                  <a:srgbClr val="4EC9B0"/>
                </a:solidFill>
                <a:latin typeface="Consolas"/>
              </a:rPr>
              <a:t>Student</a:t>
            </a:r>
            <a:r>
              <a:rPr sz="1200" b="0" i="0">
                <a:solidFill>
                  <a:srgbClr val="D4D4D4"/>
                </a:solidFill>
                <a:latin typeface="Consolas"/>
              </a:rPr>
              <a:t>&amp;</a:t>
            </a:r>
            <a:r>
              <a:rPr sz="1200" b="0" i="0">
                <a:solidFill>
                  <a:srgbClr val="D4D4D4"/>
                </a:solidFill>
                <a:latin typeface="Consolas"/>
              </a:rPr>
              <a:t> </a:t>
            </a:r>
            <a:r>
              <a:rPr sz="1200" b="0" i="0">
                <a:solidFill>
                  <a:srgbClr val="D4D4D4"/>
                </a:solidFill>
                <a:latin typeface="Consolas"/>
              </a:rPr>
              <a:t>s</a:t>
            </a:r>
            <a:r>
              <a:rPr sz="1200" b="0" i="0">
                <a:solidFill>
                  <a:srgbClr val="D4D4D4"/>
                </a:solidFill>
                <a:latin typeface="Consolas"/>
              </a:rPr>
              <a:t> </a:t>
            </a:r>
            <a:r>
              <a:rPr sz="1200" b="0" i="0">
                <a:solidFill>
                  <a:srgbClr val="D4D4D4"/>
                </a:solidFill>
                <a:latin typeface="Consolas"/>
              </a:rPr>
              <a:t>:</a:t>
            </a:r>
            <a:r>
              <a:rPr sz="1200" b="0" i="0">
                <a:solidFill>
                  <a:srgbClr val="D4D4D4"/>
                </a:solidFill>
                <a:latin typeface="Consolas"/>
              </a:rPr>
              <a:t> </a:t>
            </a:r>
            <a:r>
              <a:rPr sz="1200" b="0" i="0">
                <a:solidFill>
                  <a:srgbClr val="D4D4D4"/>
                </a:solidFill>
                <a:latin typeface="Consolas"/>
              </a:rPr>
              <a:t>roster</a:t>
            </a:r>
            <a:r>
              <a:rPr sz="1200" b="0" i="0">
                <a:solidFill>
                  <a:srgbClr val="D4D4D4"/>
                </a:solidFill>
                <a:latin typeface="Consolas"/>
              </a:rPr>
              <a:t>)</a:t>
            </a:r>
            <a:r>
              <a:rPr sz="1200" b="0" i="0">
                <a:solidFill>
                  <a:srgbClr val="D4D4D4"/>
                </a:solidFill>
                <a:latin typeface="Consolas"/>
              </a:rPr>
              <a:t> </a:t>
            </a:r>
            <a:r>
              <a:rPr sz="1200" b="0" i="0">
                <a:solidFill>
                  <a:srgbClr val="D4D4D4"/>
                </a:solidFill>
                <a:latin typeface="Consolas"/>
              </a:rPr>
              <a:t>{</a:t>
            </a:r>
          </a:p>
          <a:p>
            <a:pPr>
              <a:lnSpc>
                <a:spcPts val="1660"/>
              </a:lnSpc>
            </a:pPr>
            <a:r>
              <a:rPr sz="1200" b="0" i="0">
                <a:solidFill>
                  <a:srgbClr val="D4D4D4"/>
                </a:solidFill>
                <a:latin typeface="Consolas"/>
              </a:rPr>
              <a:t>        </a:t>
            </a:r>
            <a:r>
              <a:rPr sz="1200" b="0" i="0">
                <a:solidFill>
                  <a:srgbClr val="D4D4D4"/>
                </a:solidFill>
                <a:latin typeface="Consolas"/>
              </a:rPr>
              <a:t>outFile</a:t>
            </a:r>
            <a:r>
              <a:rPr sz="1200" b="0" i="0">
                <a:solidFill>
                  <a:srgbClr val="D4D4D4"/>
                </a:solidFill>
                <a:latin typeface="Consolas"/>
              </a:rPr>
              <a:t> </a:t>
            </a:r>
            <a:r>
              <a:rPr sz="1200" b="0" i="0">
                <a:solidFill>
                  <a:srgbClr val="D4D4D4"/>
                </a:solidFill>
                <a:latin typeface="Consolas"/>
              </a:rPr>
              <a:t>&lt;&lt;</a:t>
            </a:r>
            <a:r>
              <a:rPr sz="1200" b="0" i="0">
                <a:solidFill>
                  <a:srgbClr val="D4D4D4"/>
                </a:solidFill>
                <a:latin typeface="Consolas"/>
              </a:rPr>
              <a:t> </a:t>
            </a:r>
            <a:r>
              <a:rPr sz="1200" b="0" i="0">
                <a:solidFill>
                  <a:srgbClr val="D4D4D4"/>
                </a:solidFill>
                <a:latin typeface="Consolas"/>
              </a:rPr>
              <a:t>s</a:t>
            </a:r>
            <a:r>
              <a:rPr sz="1200" b="0" i="0">
                <a:solidFill>
                  <a:srgbClr val="D4D4D4"/>
                </a:solidFill>
                <a:latin typeface="Consolas"/>
              </a:rPr>
              <a:t>.</a:t>
            </a:r>
            <a:r>
              <a:rPr sz="1200" b="0" i="0">
                <a:solidFill>
                  <a:srgbClr val="DCDCAA"/>
                </a:solidFill>
                <a:latin typeface="Consolas"/>
              </a:rPr>
              <a:t>getName</a:t>
            </a:r>
            <a:r>
              <a:rPr sz="1200" b="0" i="0">
                <a:solidFill>
                  <a:srgbClr val="D4D4D4"/>
                </a:solidFill>
                <a:latin typeface="Consolas"/>
              </a:rPr>
              <a:t>()</a:t>
            </a:r>
            <a:r>
              <a:rPr sz="1200" b="0" i="0">
                <a:solidFill>
                  <a:srgbClr val="D4D4D4"/>
                </a:solidFill>
                <a:latin typeface="Consolas"/>
              </a:rPr>
              <a:t> </a:t>
            </a:r>
            <a:r>
              <a:rPr sz="1200" b="0" i="0">
                <a:solidFill>
                  <a:srgbClr val="D4D4D4"/>
                </a:solidFill>
                <a:latin typeface="Consolas"/>
              </a:rPr>
              <a:t>&lt;&lt;</a:t>
            </a:r>
            <a:r>
              <a:rPr sz="1200" b="0" i="0">
                <a:solidFill>
                  <a:srgbClr val="D4D4D4"/>
                </a:solidFill>
                <a:latin typeface="Consolas"/>
              </a:rPr>
              <a:t> </a:t>
            </a:r>
            <a:r>
              <a:rPr sz="1200" b="0" i="0">
                <a:solidFill>
                  <a:srgbClr val="CE9178"/>
                </a:solidFill>
                <a:latin typeface="Consolas"/>
              </a:rPr>
              <a:t>","</a:t>
            </a:r>
            <a:r>
              <a:rPr sz="1200" b="0" i="0">
                <a:solidFill>
                  <a:srgbClr val="D4D4D4"/>
                </a:solidFill>
                <a:latin typeface="Consolas"/>
              </a:rPr>
              <a:t>;</a:t>
            </a:r>
          </a:p>
          <a:p>
            <a:pPr>
              <a:lnSpc>
                <a:spcPts val="1660"/>
              </a:lnSpc>
            </a:pPr>
            <a:r>
              <a:rPr sz="1200" b="0" i="0">
                <a:solidFill>
                  <a:srgbClr val="D4D4D4"/>
                </a:solidFill>
                <a:latin typeface="Consolas"/>
              </a:rPr>
              <a:t>        </a:t>
            </a:r>
            <a:r>
              <a:rPr sz="1200" b="0" i="0">
                <a:solidFill>
                  <a:srgbClr val="D4D4D4"/>
                </a:solidFill>
                <a:latin typeface="Consolas"/>
              </a:rPr>
              <a:t>outFile</a:t>
            </a:r>
            <a:r>
              <a:rPr sz="1200" b="0" i="0">
                <a:solidFill>
                  <a:srgbClr val="D4D4D4"/>
                </a:solidFill>
                <a:latin typeface="Consolas"/>
              </a:rPr>
              <a:t> </a:t>
            </a:r>
            <a:r>
              <a:rPr sz="1200" b="0" i="0">
                <a:solidFill>
                  <a:srgbClr val="D4D4D4"/>
                </a:solidFill>
                <a:latin typeface="Consolas"/>
              </a:rPr>
              <a:t>&lt;&lt;</a:t>
            </a:r>
            <a:r>
              <a:rPr sz="1200" b="0" i="0">
                <a:solidFill>
                  <a:srgbClr val="D4D4D4"/>
                </a:solidFill>
                <a:latin typeface="Consolas"/>
              </a:rPr>
              <a:t> </a:t>
            </a:r>
            <a:r>
              <a:rPr sz="1200" b="0" i="0">
                <a:solidFill>
                  <a:srgbClr val="D4D4D4"/>
                </a:solidFill>
                <a:latin typeface="Consolas"/>
              </a:rPr>
              <a:t>s</a:t>
            </a:r>
            <a:r>
              <a:rPr sz="1200" b="0" i="0">
                <a:solidFill>
                  <a:srgbClr val="D4D4D4"/>
                </a:solidFill>
                <a:latin typeface="Consolas"/>
              </a:rPr>
              <a:t>.</a:t>
            </a:r>
            <a:r>
              <a:rPr sz="1200" b="0" i="0">
                <a:solidFill>
                  <a:srgbClr val="DCDCAA"/>
                </a:solidFill>
                <a:latin typeface="Consolas"/>
              </a:rPr>
              <a:t>getId</a:t>
            </a:r>
            <a:r>
              <a:rPr sz="1200" b="0" i="0">
                <a:solidFill>
                  <a:srgbClr val="D4D4D4"/>
                </a:solidFill>
                <a:latin typeface="Consolas"/>
              </a:rPr>
              <a:t>()</a:t>
            </a:r>
            <a:r>
              <a:rPr sz="1200" b="0" i="0">
                <a:solidFill>
                  <a:srgbClr val="D4D4D4"/>
                </a:solidFill>
                <a:latin typeface="Consolas"/>
              </a:rPr>
              <a:t> </a:t>
            </a:r>
            <a:r>
              <a:rPr sz="1200" b="0" i="0">
                <a:solidFill>
                  <a:srgbClr val="D4D4D4"/>
                </a:solidFill>
                <a:latin typeface="Consolas"/>
              </a:rPr>
              <a:t>&lt;&lt;</a:t>
            </a:r>
            <a:r>
              <a:rPr sz="1200" b="0" i="0">
                <a:solidFill>
                  <a:srgbClr val="D4D4D4"/>
                </a:solidFill>
                <a:latin typeface="Consolas"/>
              </a:rPr>
              <a:t> </a:t>
            </a:r>
            <a:r>
              <a:rPr sz="1200" b="0" i="0">
                <a:solidFill>
                  <a:srgbClr val="CE9178"/>
                </a:solidFill>
                <a:latin typeface="Consolas"/>
              </a:rPr>
              <a:t>","</a:t>
            </a:r>
            <a:r>
              <a:rPr sz="1200" b="0" i="0">
                <a:solidFill>
                  <a:srgbClr val="D4D4D4"/>
                </a:solidFill>
                <a:latin typeface="Consolas"/>
              </a:rPr>
              <a:t>;</a:t>
            </a:r>
          </a:p>
          <a:p>
            <a:pPr>
              <a:lnSpc>
                <a:spcPts val="1660"/>
              </a:lnSpc>
            </a:pPr>
            <a:r>
              <a:rPr sz="1200" b="0" i="0">
                <a:solidFill>
                  <a:srgbClr val="D4D4D4"/>
                </a:solidFill>
                <a:latin typeface="Consolas"/>
              </a:rPr>
              <a:t>        </a:t>
            </a:r>
            <a:r>
              <a:rPr sz="1200" b="0" i="0">
                <a:solidFill>
                  <a:srgbClr val="D4D4D4"/>
                </a:solidFill>
                <a:latin typeface="Consolas"/>
              </a:rPr>
              <a:t>outFile</a:t>
            </a:r>
            <a:r>
              <a:rPr sz="1200" b="0" i="0">
                <a:solidFill>
                  <a:srgbClr val="D4D4D4"/>
                </a:solidFill>
                <a:latin typeface="Consolas"/>
              </a:rPr>
              <a:t> </a:t>
            </a:r>
            <a:r>
              <a:rPr sz="1200" b="0" i="0">
                <a:solidFill>
                  <a:srgbClr val="D4D4D4"/>
                </a:solidFill>
                <a:latin typeface="Consolas"/>
              </a:rPr>
              <a:t>&lt;&lt;</a:t>
            </a:r>
            <a:r>
              <a:rPr sz="1200" b="0" i="0">
                <a:solidFill>
                  <a:srgbClr val="D4D4D4"/>
                </a:solidFill>
                <a:latin typeface="Consolas"/>
              </a:rPr>
              <a:t> </a:t>
            </a:r>
            <a:r>
              <a:rPr sz="1200" b="0" i="0">
                <a:solidFill>
                  <a:srgbClr val="D4D4D4"/>
                </a:solidFill>
                <a:latin typeface="Consolas"/>
              </a:rPr>
              <a:t>s</a:t>
            </a:r>
            <a:r>
              <a:rPr sz="1200" b="0" i="0">
                <a:solidFill>
                  <a:srgbClr val="D4D4D4"/>
                </a:solidFill>
                <a:latin typeface="Consolas"/>
              </a:rPr>
              <a:t>.</a:t>
            </a:r>
            <a:r>
              <a:rPr sz="1200" b="0" i="0">
                <a:solidFill>
                  <a:srgbClr val="DCDCAA"/>
                </a:solidFill>
                <a:latin typeface="Consolas"/>
              </a:rPr>
              <a:t>getPointsEarned</a:t>
            </a:r>
            <a:r>
              <a:rPr sz="1200" b="0" i="0">
                <a:solidFill>
                  <a:srgbClr val="D4D4D4"/>
                </a:solidFill>
                <a:latin typeface="Consolas"/>
              </a:rPr>
              <a:t>()</a:t>
            </a:r>
            <a:r>
              <a:rPr sz="1200" b="0" i="0">
                <a:solidFill>
                  <a:srgbClr val="D4D4D4"/>
                </a:solidFill>
                <a:latin typeface="Consolas"/>
              </a:rPr>
              <a:t> </a:t>
            </a:r>
            <a:r>
              <a:rPr sz="1200" b="0" i="0">
                <a:solidFill>
                  <a:srgbClr val="D4D4D4"/>
                </a:solidFill>
                <a:latin typeface="Consolas"/>
              </a:rPr>
              <a:t>&lt;&lt;</a:t>
            </a:r>
            <a:r>
              <a:rPr sz="1200" b="0" i="0">
                <a:solidFill>
                  <a:srgbClr val="D4D4D4"/>
                </a:solidFill>
                <a:latin typeface="Consolas"/>
              </a:rPr>
              <a:t> </a:t>
            </a:r>
            <a:r>
              <a:rPr sz="1200" b="0" i="0">
                <a:solidFill>
                  <a:srgbClr val="CE9178"/>
                </a:solidFill>
                <a:latin typeface="Consolas"/>
              </a:rPr>
              <a:t>","</a:t>
            </a:r>
            <a:r>
              <a:rPr sz="1200" b="0" i="0">
                <a:solidFill>
                  <a:srgbClr val="D4D4D4"/>
                </a:solidFill>
                <a:latin typeface="Consolas"/>
              </a:rPr>
              <a:t>;</a:t>
            </a:r>
          </a:p>
          <a:p>
            <a:pPr>
              <a:lnSpc>
                <a:spcPts val="1660"/>
              </a:lnSpc>
            </a:pPr>
            <a:r>
              <a:rPr sz="1200" b="0" i="0">
                <a:solidFill>
                  <a:srgbClr val="D4D4D4"/>
                </a:solidFill>
                <a:latin typeface="Consolas"/>
              </a:rPr>
              <a:t>        </a:t>
            </a:r>
            <a:r>
              <a:rPr sz="1200" b="0" i="0">
                <a:solidFill>
                  <a:srgbClr val="D4D4D4"/>
                </a:solidFill>
                <a:latin typeface="Consolas"/>
              </a:rPr>
              <a:t>outFile</a:t>
            </a:r>
            <a:r>
              <a:rPr sz="1200" b="0" i="0">
                <a:solidFill>
                  <a:srgbClr val="D4D4D4"/>
                </a:solidFill>
                <a:latin typeface="Consolas"/>
              </a:rPr>
              <a:t> </a:t>
            </a:r>
            <a:r>
              <a:rPr sz="1200" b="0" i="0">
                <a:solidFill>
                  <a:srgbClr val="D4D4D4"/>
                </a:solidFill>
                <a:latin typeface="Consolas"/>
              </a:rPr>
              <a:t>&lt;&lt;</a:t>
            </a:r>
            <a:r>
              <a:rPr sz="1200" b="0" i="0">
                <a:solidFill>
                  <a:srgbClr val="D4D4D4"/>
                </a:solidFill>
                <a:latin typeface="Consolas"/>
              </a:rPr>
              <a:t> </a:t>
            </a:r>
            <a:r>
              <a:rPr sz="1200" b="0" i="0">
                <a:solidFill>
                  <a:srgbClr val="D4D4D4"/>
                </a:solidFill>
                <a:latin typeface="Consolas"/>
              </a:rPr>
              <a:t>s</a:t>
            </a:r>
            <a:r>
              <a:rPr sz="1200" b="0" i="0">
                <a:solidFill>
                  <a:srgbClr val="D4D4D4"/>
                </a:solidFill>
                <a:latin typeface="Consolas"/>
              </a:rPr>
              <a:t>.</a:t>
            </a:r>
            <a:r>
              <a:rPr sz="1200" b="0" i="0">
                <a:solidFill>
                  <a:srgbClr val="DCDCAA"/>
                </a:solidFill>
                <a:latin typeface="Consolas"/>
              </a:rPr>
              <a:t>getPointsPossible</a:t>
            </a:r>
            <a:r>
              <a:rPr sz="1200" b="0" i="0">
                <a:solidFill>
                  <a:srgbClr val="D4D4D4"/>
                </a:solidFill>
                <a:latin typeface="Consolas"/>
              </a:rPr>
              <a:t>()</a:t>
            </a:r>
            <a:r>
              <a:rPr sz="1200" b="0" i="0">
                <a:solidFill>
                  <a:srgbClr val="D4D4D4"/>
                </a:solidFill>
                <a:latin typeface="Consolas"/>
              </a:rPr>
              <a:t> </a:t>
            </a:r>
            <a:r>
              <a:rPr sz="1200" b="0" i="0">
                <a:solidFill>
                  <a:srgbClr val="D4D4D4"/>
                </a:solidFill>
                <a:latin typeface="Consolas"/>
              </a:rPr>
              <a:t>&lt;&lt;</a:t>
            </a:r>
            <a:r>
              <a:rPr sz="1200" b="0" i="0">
                <a:solidFill>
                  <a:srgbClr val="D4D4D4"/>
                </a:solidFill>
                <a:latin typeface="Consolas"/>
              </a:rPr>
              <a:t> </a:t>
            </a:r>
            <a:r>
              <a:rPr sz="1200" b="0" i="0">
                <a:solidFill>
                  <a:srgbClr val="CE9178"/>
                </a:solidFill>
                <a:latin typeface="Consolas"/>
              </a:rPr>
              <a:t>"\n"</a:t>
            </a:r>
            <a:r>
              <a:rPr sz="1200" b="0" i="0">
                <a:solidFill>
                  <a:srgbClr val="D4D4D4"/>
                </a:solidFill>
                <a:latin typeface="Consolas"/>
              </a:rPr>
              <a:t>;</a:t>
            </a:r>
          </a:p>
          <a:p>
            <a:pPr>
              <a:lnSpc>
                <a:spcPts val="1660"/>
              </a:lnSpc>
            </a:pPr>
            <a:r>
              <a:rPr sz="1200" b="0" i="0">
                <a:solidFill>
                  <a:srgbClr val="D4D4D4"/>
                </a:solidFill>
                <a:latin typeface="Consolas"/>
              </a:rPr>
              <a:t>    </a:t>
            </a:r>
            <a:r>
              <a:rPr sz="1200" b="0" i="0">
                <a:solidFill>
                  <a:srgbClr val="D4D4D4"/>
                </a:solidFill>
                <a:latin typeface="Consolas"/>
              </a:rPr>
              <a:t>}</a:t>
            </a:r>
          </a:p>
          <a:p>
            <a:pPr>
              <a:lnSpc>
                <a:spcPts val="1660"/>
              </a:lnSpc>
            </a:pPr>
            <a:r>
              <a:rPr sz="1200" b="0" i="0">
                <a:solidFill>
                  <a:srgbClr val="D4D4D4"/>
                </a:solidFill>
                <a:latin typeface="Consolas"/>
              </a:rPr>
              <a:t>    </a:t>
            </a:r>
            <a:r>
              <a:rPr sz="1200" b="0" i="0">
                <a:solidFill>
                  <a:srgbClr val="D4D4D4"/>
                </a:solidFill>
                <a:latin typeface="Consolas"/>
              </a:rPr>
              <a:t>cout</a:t>
            </a:r>
            <a:r>
              <a:rPr sz="1200" b="0" i="0">
                <a:solidFill>
                  <a:srgbClr val="D4D4D4"/>
                </a:solidFill>
                <a:latin typeface="Consolas"/>
              </a:rPr>
              <a:t> </a:t>
            </a:r>
            <a:r>
              <a:rPr sz="1200" b="0" i="0">
                <a:solidFill>
                  <a:srgbClr val="D4D4D4"/>
                </a:solidFill>
                <a:latin typeface="Consolas"/>
              </a:rPr>
              <a:t>&lt;&lt;</a:t>
            </a:r>
            <a:r>
              <a:rPr sz="1200" b="0" i="0">
                <a:solidFill>
                  <a:srgbClr val="D4D4D4"/>
                </a:solidFill>
                <a:latin typeface="Consolas"/>
              </a:rPr>
              <a:t> </a:t>
            </a:r>
            <a:r>
              <a:rPr sz="1200" b="0" i="0">
                <a:solidFill>
                  <a:srgbClr val="CE9178"/>
                </a:solidFill>
                <a:latin typeface="Consolas"/>
              </a:rPr>
              <a:t>"Roster saved.\n"</a:t>
            </a:r>
            <a:r>
              <a:rPr sz="1200" b="0" i="0">
                <a:solidFill>
                  <a:srgbClr val="D4D4D4"/>
                </a:solidFill>
                <a:latin typeface="Consolas"/>
              </a:rPr>
              <a:t>;</a:t>
            </a:r>
          </a:p>
          <a:p>
            <a:pPr>
              <a:lnSpc>
                <a:spcPts val="1660"/>
              </a:lnSpc>
            </a:pPr>
            <a:r>
              <a:rPr sz="1200" b="0" i="0">
                <a:solidFill>
                  <a:srgbClr val="D4D4D4"/>
                </a:solidFill>
                <a:latin typeface="Consolas"/>
              </a:rPr>
              <a:t>}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35240" y="1645920"/>
            <a:ext cx="3977639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sz="1400" b="0" i="0">
                <a:solidFill>
                  <a:srgbClr val="1E1E2E"/>
                </a:solidFill>
                <a:latin typeface="Calibri"/>
              </a:rPr>
              <a:t>ofstream outFile("roster.txt") opens the file for writing</a:t>
            </a:r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sz="1400" b="0" i="0">
                <a:solidFill>
                  <a:srgbClr val="1E1E2E"/>
                </a:solidFill>
                <a:latin typeface="Calibri"/>
              </a:rPr>
              <a:t>is_open() check avoids a silent crash if the file can't be created</a:t>
            </a:r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sz="1400" b="0" i="0">
                <a:solidFill>
                  <a:srgbClr val="1E1E2E"/>
                </a:solidFill>
                <a:latin typeface="Calibri"/>
              </a:rPr>
              <a:t>Each student becomes one line: name, id, points earned, points possible</a:t>
            </a:r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sz="1400" b="0" i="0">
                <a:solidFill>
                  <a:srgbClr val="1E1E2E"/>
                </a:solidFill>
                <a:latin typeface="Calibri"/>
              </a:rPr>
              <a:t>Saving raw points instead of an average keeps letter grades accurate later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5255971"/>
            <a:ext cx="6858000" cy="6583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73152" bIns="73152" wrap="square"/>
          <a:lstStyle/>
          <a:p>
            <a:pPr algn="ctr"/>
            <a:r>
              <a:rPr sz="1000" b="1" i="0">
                <a:solidFill>
                  <a:srgbClr val="0E7C7B"/>
                </a:solidFill>
                <a:latin typeface="Calibri"/>
              </a:rPr>
              <a:t>OUTPUT</a:t>
            </a:r>
          </a:p>
          <a:p>
            <a:r>
              <a:rPr sz="1200" b="0" i="0">
                <a:solidFill>
                  <a:srgbClr val="1E1E2E"/>
                </a:solidFill>
                <a:latin typeface="Consolas"/>
              </a:rPr>
              <a:t>Roster saved.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528816"/>
            <a:ext cx="6400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9CA3AF"/>
                </a:solidFill>
                <a:latin typeface="Calibri"/>
              </a:rPr>
              <a:t>C++ FUNDAMENTALS  ·  MODULE 15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528816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9CA3AF"/>
                </a:solidFill>
                <a:latin typeface="Calibri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1109960" y="384048"/>
            <a:ext cx="685800" cy="365760"/>
          </a:xfrm>
          <a:prstGeom prst="rect">
            <a:avLst/>
          </a:prstGeom>
          <a:solidFill>
            <a:srgbClr val="F7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 i="0">
                <a:solidFill>
                  <a:srgbClr val="0E7C7B"/>
                </a:solidFill>
                <a:latin typeface="Consolas"/>
              </a:rPr>
              <a:t>M15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E7C7B"/>
                </a:solidFill>
                <a:latin typeface="Calibri"/>
              </a:rPr>
              <a:t>CAPSTONE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1E1E2E"/>
                </a:solidFill>
                <a:latin typeface="Consolas"/>
              </a:rPr>
              <a:t>Final Project Requirements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91640"/>
            <a:ext cx="658368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sz="1700" b="0" i="0">
                <a:solidFill>
                  <a:srgbClr val="1E1E2E"/>
                </a:solidFill>
                <a:latin typeface="Calibri"/>
              </a:rPr>
              <a:t>A Student class with private, encapsulated data and clear accessor methods</a:t>
            </a:r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sz="1700" b="0" i="0">
                <a:solidFill>
                  <a:srgbClr val="1E1E2E"/>
                </a:solidFill>
                <a:latin typeface="Calibri"/>
              </a:rPr>
              <a:t>A Course class that holds the whole roster in a vector&lt;Student&gt;</a:t>
            </a:r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sz="1700" b="0" i="0">
                <a:solidFill>
                  <a:srgbClr val="1E1E2E"/>
                </a:solidFill>
                <a:latin typeface="Calibri"/>
              </a:rPr>
              <a:t>Add students, record grades, and compute averages and letter grades</a:t>
            </a:r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sz="1700" b="0" i="0">
                <a:solidFill>
                  <a:srgbClr val="1E1E2E"/>
                </a:solidFill>
                <a:latin typeface="Calibri"/>
              </a:rPr>
              <a:t>Sort the roster with std::sort and locate a student with find_if or binary search</a:t>
            </a:r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sz="1700" b="0" i="0">
                <a:solidFill>
                  <a:srgbClr val="1E1E2E"/>
                </a:solidFill>
                <a:latin typeface="Calibri"/>
              </a:rPr>
              <a:t>Save and reload the roster with ofstream/ifstream, driven by a menu-based main()</a:t>
            </a:r>
          </a:p>
        </p:txBody>
      </p:sp>
      <p:sp>
        <p:nvSpPr>
          <p:cNvPr id="6" name="Rectangle 5"/>
          <p:cNvSpPr/>
          <p:nvPr/>
        </p:nvSpPr>
        <p:spPr>
          <a:xfrm>
            <a:off x="7452360" y="1691640"/>
            <a:ext cx="3977639" cy="2926080"/>
          </a:xfrm>
          <a:prstGeom prst="rect">
            <a:avLst/>
          </a:prstGeom>
          <a:solidFill>
            <a:srgbClr val="1E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26679" y="1874519"/>
            <a:ext cx="3474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0A500"/>
                </a:solidFill>
                <a:latin typeface="Calibri"/>
              </a:rPr>
              <a:t>GRADING RUBRIC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26679" y="2240280"/>
            <a:ext cx="347472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sz="1400" b="0" i="0">
                <a:solidFill>
                  <a:srgbClr val="F2F2F2"/>
                </a:solidFill>
                <a:latin typeface="Calibri"/>
              </a:rPr>
              <a:t>Correctness &amp; program behavior — 40%</a:t>
            </a:r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sz="1400" b="0" i="0">
                <a:solidFill>
                  <a:srgbClr val="F2F2F2"/>
                </a:solidFill>
                <a:latin typeface="Calibri"/>
              </a:rPr>
              <a:t>Class design, file persistence &amp; style — 50%</a:t>
            </a:r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sz="1400" b="0" i="0">
                <a:solidFill>
                  <a:srgbClr val="F2F2F2"/>
                </a:solidFill>
                <a:latin typeface="Calibri"/>
              </a:rPr>
              <a:t>Menu flow &amp; user experience — 10%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528816"/>
            <a:ext cx="6400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9CA3AF"/>
                </a:solidFill>
                <a:latin typeface="Calibri"/>
              </a:rPr>
              <a:t>C++ FUNDAMENTALS  ·  MODULE 15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528816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9CA3AF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1109960" y="384048"/>
            <a:ext cx="685800" cy="365760"/>
          </a:xfrm>
          <a:prstGeom prst="rect">
            <a:avLst/>
          </a:prstGeom>
          <a:solidFill>
            <a:srgbClr val="F7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 i="0">
                <a:solidFill>
                  <a:srgbClr val="0E7C7B"/>
                </a:solidFill>
                <a:latin typeface="Consolas"/>
              </a:rPr>
              <a:t>M15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365760"/>
            <a:ext cx="2834640" cy="365760"/>
          </a:xfrm>
          <a:prstGeom prst="roundRect">
            <a:avLst/>
          </a:prstGeom>
          <a:solidFill>
            <a:srgbClr val="F0A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rIns="0" tIns="0" bIns="0"/>
          <a:lstStyle/>
          <a:p>
            <a:pPr algn="ctr"/>
            <a:r>
              <a:rPr sz="1300" b="1" i="0">
                <a:solidFill>
                  <a:srgbClr val="1E1E2E"/>
                </a:solidFill>
                <a:latin typeface="Calibri"/>
              </a:rPr>
              <a:t>PROJECT BUILD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789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1E1E2E"/>
                </a:solidFill>
                <a:latin typeface="Consolas"/>
              </a:rPr>
              <a:t>Project Build: Loading the Roster on Startup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783080"/>
            <a:ext cx="6858000" cy="4134916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783080"/>
            <a:ext cx="6858000" cy="292608"/>
          </a:xfrm>
          <a:prstGeom prst="rect">
            <a:avLst/>
          </a:prstGeom>
          <a:solidFill>
            <a:srgbClr val="2D2D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13232" y="1874519"/>
            <a:ext cx="109728" cy="109728"/>
          </a:xfrm>
          <a:prstGeom prst="ellipse">
            <a:avLst/>
          </a:prstGeom>
          <a:solidFill>
            <a:srgbClr val="FF5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32688" y="1874519"/>
            <a:ext cx="109728" cy="109728"/>
          </a:xfrm>
          <a:prstGeom prst="ellipse">
            <a:avLst/>
          </a:prstGeom>
          <a:solidFill>
            <a:srgbClr val="FFB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52144" y="1874519"/>
            <a:ext cx="109728" cy="109728"/>
          </a:xfrm>
          <a:prstGeom prst="ellipse">
            <a:avLst/>
          </a:prstGeom>
          <a:solidFill>
            <a:srgbClr val="27C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1783080"/>
            <a:ext cx="57607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9B9BA3"/>
                </a:solidFill>
                <a:latin typeface="Consolas"/>
              </a:rPr>
              <a:t>main.cpp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2167128"/>
            <a:ext cx="6309360" cy="38880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ts val="1860"/>
              </a:lnSpc>
            </a:pPr>
            <a:r>
              <a:rPr sz="1400" b="0" i="0">
                <a:solidFill>
                  <a:srgbClr val="4EC9B0"/>
                </a:solidFill>
                <a:latin typeface="Consolas"/>
              </a:rPr>
              <a:t>vector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&lt;</a:t>
            </a:r>
            <a:r>
              <a:rPr sz="1400" b="0" i="0">
                <a:solidFill>
                  <a:srgbClr val="4EC9B0"/>
                </a:solidFill>
                <a:latin typeface="Consolas"/>
              </a:rPr>
              <a:t>Student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&gt;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 </a:t>
            </a:r>
            <a:r>
              <a:rPr sz="1400" b="0" i="0">
                <a:solidFill>
                  <a:srgbClr val="DCDCAA"/>
                </a:solidFill>
                <a:latin typeface="Consolas"/>
              </a:rPr>
              <a:t>loadRoster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()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 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{</a:t>
            </a:r>
          </a:p>
          <a:p>
            <a:pPr>
              <a:lnSpc>
                <a:spcPts val="1860"/>
              </a:lnSpc>
            </a:pPr>
            <a:r>
              <a:rPr sz="1400" b="0" i="0">
                <a:solidFill>
                  <a:srgbClr val="D4D4D4"/>
                </a:solidFill>
                <a:latin typeface="Consolas"/>
              </a:rPr>
              <a:t>    </a:t>
            </a:r>
            <a:r>
              <a:rPr sz="1400" b="0" i="0">
                <a:solidFill>
                  <a:srgbClr val="4EC9B0"/>
                </a:solidFill>
                <a:latin typeface="Consolas"/>
              </a:rPr>
              <a:t>vector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&lt;</a:t>
            </a:r>
            <a:r>
              <a:rPr sz="1400" b="0" i="0">
                <a:solidFill>
                  <a:srgbClr val="4EC9B0"/>
                </a:solidFill>
                <a:latin typeface="Consolas"/>
              </a:rPr>
              <a:t>Student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&gt;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 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roster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;</a:t>
            </a:r>
          </a:p>
          <a:p>
            <a:pPr>
              <a:lnSpc>
                <a:spcPts val="1860"/>
              </a:lnSpc>
            </a:pPr>
            <a:r>
              <a:rPr sz="1400" b="0" i="0">
                <a:solidFill>
                  <a:srgbClr val="D4D4D4"/>
                </a:solidFill>
                <a:latin typeface="Consolas"/>
              </a:rPr>
              <a:t>    </a:t>
            </a:r>
            <a:r>
              <a:rPr sz="1400" b="0" i="0">
                <a:solidFill>
                  <a:srgbClr val="4EC9B0"/>
                </a:solidFill>
                <a:latin typeface="Consolas"/>
              </a:rPr>
              <a:t>ifstream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 </a:t>
            </a:r>
            <a:r>
              <a:rPr sz="1400" b="0" i="0">
                <a:solidFill>
                  <a:srgbClr val="DCDCAA"/>
                </a:solidFill>
                <a:latin typeface="Consolas"/>
              </a:rPr>
              <a:t>inFile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("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roster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.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txt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");</a:t>
            </a:r>
          </a:p>
          <a:p>
            <a:pPr>
              <a:lnSpc>
                <a:spcPts val="1860"/>
              </a:lnSpc>
            </a:pPr>
            <a:r>
              <a:rPr sz="1400" b="0" i="0">
                <a:solidFill>
                  <a:srgbClr val="D4D4D4"/>
                </a:solidFill>
                <a:latin typeface="Consolas"/>
              </a:rPr>
              <a:t>    </a:t>
            </a:r>
            <a:r>
              <a:rPr sz="1400" b="0" i="0">
                <a:solidFill>
                  <a:srgbClr val="569CD6"/>
                </a:solidFill>
                <a:latin typeface="Consolas"/>
              </a:rPr>
              <a:t>if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 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(!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inFile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.</a:t>
            </a:r>
            <a:r>
              <a:rPr sz="1400" b="0" i="0">
                <a:solidFill>
                  <a:srgbClr val="DCDCAA"/>
                </a:solidFill>
                <a:latin typeface="Consolas"/>
              </a:rPr>
              <a:t>is_open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())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 </a:t>
            </a:r>
            <a:r>
              <a:rPr sz="1400" b="0" i="0">
                <a:solidFill>
                  <a:srgbClr val="569CD6"/>
                </a:solidFill>
                <a:latin typeface="Consolas"/>
              </a:rPr>
              <a:t>return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 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roster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;</a:t>
            </a:r>
          </a:p>
          <a:p>
            <a:pPr>
              <a:lnSpc>
                <a:spcPts val="1860"/>
              </a:lnSpc>
            </a:pPr>
            <a:r>
              <a:rPr sz="1400" b="0" i="0">
                <a:solidFill>
                  <a:srgbClr val="D4D4D4"/>
                </a:solidFill>
                <a:latin typeface="Consolas"/>
              </a:rPr>
              <a:t> </a:t>
            </a:r>
          </a:p>
          <a:p>
            <a:pPr>
              <a:lnSpc>
                <a:spcPts val="1860"/>
              </a:lnSpc>
            </a:pPr>
            <a:r>
              <a:rPr sz="1400" b="0" i="0">
                <a:solidFill>
                  <a:srgbClr val="D4D4D4"/>
                </a:solidFill>
                <a:latin typeface="Consolas"/>
              </a:rPr>
              <a:t>    </a:t>
            </a:r>
            <a:r>
              <a:rPr sz="1400" b="0" i="0">
                <a:solidFill>
                  <a:srgbClr val="4EC9B0"/>
                </a:solidFill>
                <a:latin typeface="Consolas"/>
              </a:rPr>
              <a:t>string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 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name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,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 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idStr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,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 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ptsStr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,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 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possStr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;</a:t>
            </a:r>
          </a:p>
          <a:p>
            <a:pPr>
              <a:lnSpc>
                <a:spcPts val="1860"/>
              </a:lnSpc>
            </a:pPr>
            <a:r>
              <a:rPr sz="1400" b="0" i="0">
                <a:solidFill>
                  <a:srgbClr val="D4D4D4"/>
                </a:solidFill>
                <a:latin typeface="Consolas"/>
              </a:rPr>
              <a:t>    </a:t>
            </a:r>
            <a:r>
              <a:rPr sz="1400" b="0" i="0">
                <a:solidFill>
                  <a:srgbClr val="569CD6"/>
                </a:solidFill>
                <a:latin typeface="Consolas"/>
              </a:rPr>
              <a:t>while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 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(</a:t>
            </a:r>
            <a:r>
              <a:rPr sz="1400" b="0" i="0">
                <a:solidFill>
                  <a:srgbClr val="DCDCAA"/>
                </a:solidFill>
                <a:latin typeface="Consolas"/>
              </a:rPr>
              <a:t>getline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(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inFile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,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 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name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,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 </a:t>
            </a:r>
            <a:r>
              <a:rPr sz="1400" b="0" i="0">
                <a:solidFill>
                  <a:srgbClr val="CE9178"/>
                </a:solidFill>
                <a:latin typeface="Consolas"/>
              </a:rPr>
              <a:t>','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))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 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{</a:t>
            </a:r>
          </a:p>
          <a:p>
            <a:pPr>
              <a:lnSpc>
                <a:spcPts val="1860"/>
              </a:lnSpc>
            </a:pPr>
            <a:r>
              <a:rPr sz="1400" b="0" i="0">
                <a:solidFill>
                  <a:srgbClr val="D4D4D4"/>
                </a:solidFill>
                <a:latin typeface="Consolas"/>
              </a:rPr>
              <a:t>        </a:t>
            </a:r>
            <a:r>
              <a:rPr sz="1400" b="0" i="0">
                <a:solidFill>
                  <a:srgbClr val="DCDCAA"/>
                </a:solidFill>
                <a:latin typeface="Consolas"/>
              </a:rPr>
              <a:t>getline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(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inFile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,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 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idStr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,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 </a:t>
            </a:r>
            <a:r>
              <a:rPr sz="1400" b="0" i="0">
                <a:solidFill>
                  <a:srgbClr val="CE9178"/>
                </a:solidFill>
                <a:latin typeface="Consolas"/>
              </a:rPr>
              <a:t>','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);</a:t>
            </a:r>
          </a:p>
          <a:p>
            <a:pPr>
              <a:lnSpc>
                <a:spcPts val="1860"/>
              </a:lnSpc>
            </a:pPr>
            <a:r>
              <a:rPr sz="1400" b="0" i="0">
                <a:solidFill>
                  <a:srgbClr val="D4D4D4"/>
                </a:solidFill>
                <a:latin typeface="Consolas"/>
              </a:rPr>
              <a:t>        </a:t>
            </a:r>
            <a:r>
              <a:rPr sz="1400" b="0" i="0">
                <a:solidFill>
                  <a:srgbClr val="DCDCAA"/>
                </a:solidFill>
                <a:latin typeface="Consolas"/>
              </a:rPr>
              <a:t>getline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(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inFile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,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 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ptsStr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,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 </a:t>
            </a:r>
            <a:r>
              <a:rPr sz="1400" b="0" i="0">
                <a:solidFill>
                  <a:srgbClr val="CE9178"/>
                </a:solidFill>
                <a:latin typeface="Consolas"/>
              </a:rPr>
              <a:t>','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);</a:t>
            </a:r>
          </a:p>
          <a:p>
            <a:pPr>
              <a:lnSpc>
                <a:spcPts val="1860"/>
              </a:lnSpc>
            </a:pPr>
            <a:r>
              <a:rPr sz="1400" b="0" i="0">
                <a:solidFill>
                  <a:srgbClr val="D4D4D4"/>
                </a:solidFill>
                <a:latin typeface="Consolas"/>
              </a:rPr>
              <a:t>        </a:t>
            </a:r>
            <a:r>
              <a:rPr sz="1400" b="0" i="0">
                <a:solidFill>
                  <a:srgbClr val="DCDCAA"/>
                </a:solidFill>
                <a:latin typeface="Consolas"/>
              </a:rPr>
              <a:t>getline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(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inFile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,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 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possStr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);</a:t>
            </a:r>
          </a:p>
          <a:p>
            <a:pPr>
              <a:lnSpc>
                <a:spcPts val="1860"/>
              </a:lnSpc>
            </a:pPr>
            <a:r>
              <a:rPr sz="1400" b="0" i="0">
                <a:solidFill>
                  <a:srgbClr val="D4D4D4"/>
                </a:solidFill>
                <a:latin typeface="Consolas"/>
              </a:rPr>
              <a:t>        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roster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.</a:t>
            </a:r>
            <a:r>
              <a:rPr sz="1400" b="0" i="0">
                <a:solidFill>
                  <a:srgbClr val="DCDCAA"/>
                </a:solidFill>
                <a:latin typeface="Consolas"/>
              </a:rPr>
              <a:t>push_back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(</a:t>
            </a:r>
            <a:r>
              <a:rPr sz="1400" b="0" i="0">
                <a:solidFill>
                  <a:srgbClr val="DCDCAA"/>
                </a:solidFill>
                <a:latin typeface="Consolas"/>
              </a:rPr>
              <a:t>Student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(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name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,</a:t>
            </a:r>
          </a:p>
          <a:p>
            <a:pPr>
              <a:lnSpc>
                <a:spcPts val="1860"/>
              </a:lnSpc>
            </a:pPr>
            <a:r>
              <a:rPr sz="1400" b="0" i="0">
                <a:solidFill>
                  <a:srgbClr val="D4D4D4"/>
                </a:solidFill>
                <a:latin typeface="Consolas"/>
              </a:rPr>
              <a:t>            </a:t>
            </a:r>
            <a:r>
              <a:rPr sz="1400" b="0" i="0">
                <a:solidFill>
                  <a:srgbClr val="DCDCAA"/>
                </a:solidFill>
                <a:latin typeface="Consolas"/>
              </a:rPr>
              <a:t>stoi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(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idStr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),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 </a:t>
            </a:r>
            <a:r>
              <a:rPr sz="1400" b="0" i="0">
                <a:solidFill>
                  <a:srgbClr val="DCDCAA"/>
                </a:solidFill>
                <a:latin typeface="Consolas"/>
              </a:rPr>
              <a:t>stod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(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ptsStr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),</a:t>
            </a:r>
          </a:p>
          <a:p>
            <a:pPr>
              <a:lnSpc>
                <a:spcPts val="1860"/>
              </a:lnSpc>
            </a:pPr>
            <a:r>
              <a:rPr sz="1400" b="0" i="0">
                <a:solidFill>
                  <a:srgbClr val="D4D4D4"/>
                </a:solidFill>
                <a:latin typeface="Consolas"/>
              </a:rPr>
              <a:t>            </a:t>
            </a:r>
            <a:r>
              <a:rPr sz="1400" b="0" i="0">
                <a:solidFill>
                  <a:srgbClr val="DCDCAA"/>
                </a:solidFill>
                <a:latin typeface="Consolas"/>
              </a:rPr>
              <a:t>stod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(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possStr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)));</a:t>
            </a:r>
          </a:p>
          <a:p>
            <a:pPr>
              <a:lnSpc>
                <a:spcPts val="1860"/>
              </a:lnSpc>
            </a:pPr>
            <a:r>
              <a:rPr sz="1400" b="0" i="0">
                <a:solidFill>
                  <a:srgbClr val="D4D4D4"/>
                </a:solidFill>
                <a:latin typeface="Consolas"/>
              </a:rPr>
              <a:t>    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}</a:t>
            </a:r>
          </a:p>
          <a:p>
            <a:pPr>
              <a:lnSpc>
                <a:spcPts val="1860"/>
              </a:lnSpc>
            </a:pPr>
            <a:r>
              <a:rPr sz="1400" b="0" i="0">
                <a:solidFill>
                  <a:srgbClr val="D4D4D4"/>
                </a:solidFill>
                <a:latin typeface="Consolas"/>
              </a:rPr>
              <a:t>    </a:t>
            </a:r>
            <a:r>
              <a:rPr sz="1400" b="0" i="0">
                <a:solidFill>
                  <a:srgbClr val="569CD6"/>
                </a:solidFill>
                <a:latin typeface="Consolas"/>
              </a:rPr>
              <a:t>return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 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roster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;</a:t>
            </a:r>
          </a:p>
          <a:p>
            <a:pPr>
              <a:lnSpc>
                <a:spcPts val="1860"/>
              </a:lnSpc>
            </a:pPr>
            <a:r>
              <a:rPr sz="1400" b="0" i="0">
                <a:solidFill>
                  <a:srgbClr val="D4D4D4"/>
                </a:solidFill>
                <a:latin typeface="Consolas"/>
              </a:rPr>
              <a:t>}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35240" y="1783080"/>
            <a:ext cx="3977639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sz="1400" b="0" i="0">
                <a:solidFill>
                  <a:srgbClr val="1E1E2E"/>
                </a:solidFill>
                <a:latin typeface="Calibri"/>
              </a:rPr>
              <a:t>ifstream inFile("roster.txt") reopens last session's saved data</a:t>
            </a:r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sz="1400" b="0" i="0">
                <a:solidFill>
                  <a:srgbClr val="1E1E2E"/>
                </a:solidFill>
                <a:latin typeface="Calibri"/>
              </a:rPr>
              <a:t>is_open() check means a first run with no file just starts empty</a:t>
            </a:r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sz="1400" b="0" i="0">
                <a:solidFill>
                  <a:srgbClr val="1E1E2E"/>
                </a:solidFill>
                <a:latin typeface="Calibri"/>
              </a:rPr>
              <a:t>Rebuilding from raw points, not a stored average, keeps grades correct</a:t>
            </a:r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sz="1400" b="0" i="0">
                <a:solidFill>
                  <a:srgbClr val="1E1E2E"/>
                </a:solidFill>
                <a:latin typeface="Calibri"/>
              </a:rPr>
              <a:t>Load on startup, save on exit — the last piece tying the whole menu loop together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528816"/>
            <a:ext cx="6400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9CA3AF"/>
                </a:solidFill>
                <a:latin typeface="Calibri"/>
              </a:rPr>
              <a:t>C++ FUNDAMENTALS  ·  MODULE 15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38560" y="6528816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9CA3AF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0A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0A500"/>
                </a:solidFill>
                <a:latin typeface="Calibri"/>
              </a:rPr>
              <a:t>IN-CLASS EXERCISE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F2F2F2"/>
                </a:solidFill>
                <a:latin typeface="Consolas"/>
              </a:rPr>
              <a:t>Build the Full Menu Loop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6766560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254000" indent="-254000">
              <a:spcAft>
                <a:spcPts val="1200"/>
              </a:spcAft>
              <a:buSzPct val="100000"/>
              <a:buChar char="▸"/>
            </a:pPr>
            <a:r>
              <a:rPr sz="1800" b="0" i="0">
                <a:solidFill>
                  <a:srgbClr val="F2F2F2"/>
                </a:solidFill>
                <a:latin typeface="Calibri"/>
              </a:rPr>
              <a:t>Write a while loop that runs until the user picks Exit</a:t>
            </a:r>
          </a:p>
          <a:p>
            <a:pPr marL="254000" indent="-254000">
              <a:spcAft>
                <a:spcPts val="1200"/>
              </a:spcAft>
              <a:buSzPct val="100000"/>
              <a:buChar char="▸"/>
            </a:pPr>
            <a:r>
              <a:rPr sz="1800" b="0" i="0">
                <a:solidFill>
                  <a:srgbClr val="F2F2F2"/>
                </a:solidFill>
                <a:latin typeface="Calibri"/>
              </a:rPr>
              <a:t>Print a menu: Add Student, Sort, Search, Save, Load, Exit</a:t>
            </a:r>
          </a:p>
          <a:p>
            <a:pPr marL="254000" indent="-254000">
              <a:spcAft>
                <a:spcPts val="1200"/>
              </a:spcAft>
              <a:buSzPct val="100000"/>
              <a:buChar char="▸"/>
            </a:pPr>
            <a:r>
              <a:rPr sz="1800" b="0" i="0">
                <a:solidFill>
                  <a:srgbClr val="F2F2F2"/>
                </a:solidFill>
                <a:latin typeface="Calibri"/>
              </a:rPr>
              <a:t>Read the user's choice into an int with cin</a:t>
            </a:r>
          </a:p>
          <a:p>
            <a:pPr marL="254000" indent="-254000">
              <a:spcAft>
                <a:spcPts val="1200"/>
              </a:spcAft>
              <a:buSzPct val="100000"/>
              <a:buChar char="▸"/>
            </a:pPr>
            <a:r>
              <a:rPr sz="1800" b="0" i="0">
                <a:solidFill>
                  <a:srgbClr val="F2F2F2"/>
                </a:solidFill>
                <a:latin typeface="Calibri"/>
              </a:rPr>
              <a:t>Use a switch to call the matching function for each choice</a:t>
            </a:r>
          </a:p>
          <a:p>
            <a:pPr marL="254000" indent="-254000">
              <a:spcAft>
                <a:spcPts val="1200"/>
              </a:spcAft>
              <a:buSzPct val="100000"/>
              <a:buChar char="▸"/>
            </a:pPr>
            <a:r>
              <a:rPr sz="1800" b="0" i="0">
                <a:solidFill>
                  <a:srgbClr val="F2F2F2"/>
                </a:solidFill>
                <a:latin typeface="Calibri"/>
              </a:rPr>
              <a:t>Wire Sort to std::sort and Search to your own linear or binary search</a:t>
            </a:r>
          </a:p>
          <a:p>
            <a:pPr marL="254000" indent="-254000">
              <a:spcAft>
                <a:spcPts val="1200"/>
              </a:spcAft>
              <a:buSzPct val="100000"/>
              <a:buChar char="▸"/>
            </a:pPr>
            <a:r>
              <a:rPr sz="1800" b="0" i="0">
                <a:solidFill>
                  <a:srgbClr val="F2F2F2"/>
                </a:solidFill>
                <a:latin typeface="Calibri"/>
              </a:rPr>
              <a:t>Stub any option you haven't finished — the loop structure matters most</a:t>
            </a:r>
          </a:p>
        </p:txBody>
      </p:sp>
      <p:sp>
        <p:nvSpPr>
          <p:cNvPr id="6" name="Rectangle 5"/>
          <p:cNvSpPr/>
          <p:nvPr/>
        </p:nvSpPr>
        <p:spPr>
          <a:xfrm>
            <a:off x="7635240" y="1828800"/>
            <a:ext cx="3977639" cy="2743200"/>
          </a:xfrm>
          <a:prstGeom prst="rect">
            <a:avLst/>
          </a:prstGeom>
          <a:solidFill>
            <a:srgbClr val="2A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63840" y="2011680"/>
            <a:ext cx="3566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4EC9B0"/>
                </a:solidFill>
                <a:latin typeface="Calibri"/>
              </a:rPr>
              <a:t>HINTS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0" y="2423160"/>
            <a:ext cx="3566160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sz="1350" b="0" i="0">
                <a:solidFill>
                  <a:srgbClr val="D8D8E8"/>
                </a:solidFill>
                <a:latin typeface="Calibri"/>
              </a:rPr>
              <a:t>Use bool running = true; and loop while (running)</a:t>
            </a:r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sz="1350" b="0" i="0">
                <a:solidFill>
                  <a:srgbClr val="D8D8E8"/>
                </a:solidFill>
                <a:latin typeface="Calibri"/>
              </a:rPr>
              <a:t>Set running = false; in the Exit case to stop the loop</a:t>
            </a:r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sz="1350" b="0" i="0">
                <a:solidFill>
                  <a:srgbClr val="D8D8E8"/>
                </a:solidFill>
                <a:latin typeface="Calibri"/>
              </a:rPr>
              <a:t>Call loadRoster() once before the loop starts, saveRoster() in Exit</a:t>
            </a:r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sz="1350" b="0" i="0">
                <a:solidFill>
                  <a:srgbClr val="D8D8E8"/>
                </a:solidFill>
                <a:latin typeface="Calibri"/>
              </a:rPr>
              <a:t>Compile with g++ main.cpp -o tracker, then run ./tracker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528816"/>
            <a:ext cx="6400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8A8AA3"/>
                </a:solidFill>
                <a:latin typeface="Calibri"/>
              </a:rPr>
              <a:t>C++ FUNDAMENTALS  ·  MODULE 15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528816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8A8AA3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371600" y="-1371600"/>
            <a:ext cx="3657600" cy="3657600"/>
          </a:xfrm>
          <a:prstGeom prst="ellipse">
            <a:avLst/>
          </a:prstGeom>
          <a:solidFill>
            <a:srgbClr val="2A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4EC9B0"/>
                </a:solidFill>
                <a:latin typeface="Calibri"/>
              </a:rPr>
              <a:t>MODULE RECAP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F2F2F2"/>
                </a:solidFill>
                <a:latin typeface="Consolas"/>
              </a:rPr>
              <a:t>Key Takeaways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9875520" cy="3474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279400" indent="-279400">
              <a:spcAft>
                <a:spcPts val="1600"/>
              </a:spcAft>
              <a:buSzPct val="100000"/>
              <a:buChar char="✓"/>
            </a:pPr>
            <a:r>
              <a:rPr sz="1800" b="0" i="0">
                <a:solidFill>
                  <a:srgbClr val="F2F2F2"/>
                </a:solidFill>
                <a:latin typeface="Calibri"/>
              </a:rPr>
              <a:t>Sequential search checks everything; binary search on sorted data cuts the list in half each time</a:t>
            </a:r>
          </a:p>
          <a:p>
            <a:pPr marL="279400" indent="-279400">
              <a:spcAft>
                <a:spcPts val="1600"/>
              </a:spcAft>
              <a:buSzPct val="100000"/>
              <a:buChar char="✓"/>
            </a:pPr>
            <a:r>
              <a:rPr sz="1800" b="0" i="0">
                <a:solidFill>
                  <a:srgbClr val="F2F2F2"/>
                </a:solidFill>
                <a:latin typeface="Calibri"/>
              </a:rPr>
              <a:t>std::sort replaces hand-written bubble and insertion sort with one line</a:t>
            </a:r>
          </a:p>
          <a:p>
            <a:pPr marL="279400" indent="-279400">
              <a:spcAft>
                <a:spcPts val="1600"/>
              </a:spcAft>
              <a:buSzPct val="100000"/>
              <a:buChar char="✓"/>
            </a:pPr>
            <a:r>
              <a:rPr sz="1800" b="0" i="0">
                <a:solidFill>
                  <a:srgbClr val="F2F2F2"/>
                </a:solidFill>
                <a:latin typeface="Calibri"/>
              </a:rPr>
              <a:t>ifstream and ofstream let the roster survive after the program ends</a:t>
            </a:r>
          </a:p>
          <a:p>
            <a:pPr marL="279400" indent="-279400">
              <a:spcAft>
                <a:spcPts val="1600"/>
              </a:spcAft>
              <a:buSzPct val="100000"/>
              <a:buChar char="✓"/>
            </a:pPr>
            <a:r>
              <a:rPr sz="1800" b="0" i="0">
                <a:solidFill>
                  <a:srgbClr val="F2F2F2"/>
                </a:solidFill>
                <a:latin typeface="Calibri"/>
              </a:rPr>
              <a:t>Pointers, templates, exceptions, recursion, and linked structures — Modules 9 through 14 — all led here</a:t>
            </a:r>
          </a:p>
          <a:p>
            <a:pPr marL="279400" indent="-279400">
              <a:spcAft>
                <a:spcPts val="1600"/>
              </a:spcAft>
              <a:buSzPct val="100000"/>
              <a:buChar char="✓"/>
            </a:pPr>
            <a:r>
              <a:rPr sz="1800" b="0" i="0">
                <a:solidFill>
                  <a:srgbClr val="F2F2F2"/>
                </a:solidFill>
                <a:latin typeface="Calibri"/>
              </a:rPr>
              <a:t>You've built a complete, menu-driven, file-backed C++ application from scratch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5577840"/>
            <a:ext cx="11064240" cy="777240"/>
          </a:xfrm>
          <a:prstGeom prst="rect">
            <a:avLst/>
          </a:prstGeom>
          <a:solidFill>
            <a:srgbClr val="2A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5577840"/>
            <a:ext cx="1051560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200" b="1" i="0">
                <a:solidFill>
                  <a:srgbClr val="F0A500"/>
                </a:solidFill>
                <a:latin typeface="Calibri"/>
              </a:rPr>
              <a:t>WHAT'S NEXT   </a:t>
            </a:r>
            <a:r>
              <a:rPr sz="1400" b="0" i="0">
                <a:solidFill>
                  <a:srgbClr val="F2F2F2"/>
                </a:solidFill>
                <a:latin typeface="Calibri"/>
              </a:rPr>
              <a:t>COURSE COMPLETE — You've gone from your first cout to a multi-class, pointer-aware, exception-safe, file-backed, sorted roster. Take what you built and keep extending it — map, smart pointers, or a GUI are natural next steps.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6400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8A8AA3"/>
                </a:solidFill>
                <a:latin typeface="Calibri"/>
              </a:rPr>
              <a:t>C++ FUNDAMENTALS  ·  MODULE 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528816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8A8AA3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