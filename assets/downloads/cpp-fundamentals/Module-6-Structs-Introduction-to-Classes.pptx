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A2A3D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2A2A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STUDENT GRADE &amp; COURSE TRACKER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Structs &amp; Introduction to Classes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data and behavior into one real object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6035040"/>
            <a:ext cx="2743200" cy="0"/>
          </a:xfrm>
          <a:prstGeom prst="line">
            <a:avLst/>
          </a:prstGeom>
          <a:noFill/>
          <a:ln w="25400">
            <a:solidFill>
              <a:srgbClr val="4EC9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College C++ Programming — Intro Sequence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6642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parallel vectors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143000" y="21031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384048" cy="3840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1214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basics — grouping data together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143000" y="25603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25786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object-oriented programming?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143000" y="30175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08960"/>
            <a:ext cx="384048" cy="3840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30358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vs. struct — the one technical difference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143000" y="34747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34930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specifiers: public and private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143000" y="39319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39502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variables and member functions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1143000" y="43891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480560"/>
            <a:ext cx="384048" cy="384048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43000" y="44074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 — building an object correctly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1143000" y="48463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937760"/>
            <a:ext cx="384048" cy="3840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43000" y="48646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this pointer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1143000" y="53035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143000" y="53218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Build: the Student class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1143000" y="57607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5852160"/>
            <a:ext cx="384048" cy="3840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5852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143000" y="57790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getLetterGrade() as a member function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Trouble With Two Parallel Vectors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583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Module 5 ended with a class roster split across two separate vectors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vector&lt;string&gt; names and vector&lt;vector&lt;double&gt;&gt; grades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names[i] and grades[i] must always refer to the SAME student</a:t>
            </a:r>
            <a:endParaRPr lang="en-US" sz="1700" dirty="0"/>
          </a:p>
          <a:p>
            <a:pPr lvl="1" marL="457200" indent="-2286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Nothing in the language enforces that connection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Add a new name but forget to push_back a matching grades row, and everything after that index shifts out of sync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Delete a student from one vector but not the other, and the whole roster is silently corrupted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What we really want: one object per student that carries its own name, id, AND grades together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52360" y="1691640"/>
            <a:ext cx="3977640" cy="292608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Bug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26680" y="22402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Index-syncing bugs don't crash the program — they just quietly attach the wrong grades to the wrong name.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STEPPING STONE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— Grouping Related Data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58000" cy="3427476"/>
          </a:xfrm>
          <a:prstGeom prst="rect">
            <a:avLst/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029968"/>
            <a:ext cx="6309360" cy="292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"Ava Thompson"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("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35240" y="1645920"/>
            <a:ext cx="3977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struct defines a new TYPE that bundles several fields into one unit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Student s; creates one variable that holds a name AND an id together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Dot notation (s.name, s.id) reads or sets each field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One student is now one thing in memory — not two entries in two separate vectors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Object-Oriented Programming?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OOP models a program as a set of OBJECTS, each combining data and behavior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An object has: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Attributes — the data it holds (its state)</a:t>
            </a:r>
            <a:endParaRPr lang="en-US" sz="1700" dirty="0"/>
          </a:p>
          <a:p>
            <a:pPr lvl="1" marL="457200" indent="-2286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Behaviors — the functions it can perform (its actions)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Real-world analogy: a Car object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Attributes: speed, fuelLevel, isRunning</a:t>
            </a:r>
            <a:endParaRPr lang="en-US" sz="1700" dirty="0"/>
          </a:p>
          <a:p>
            <a:pPr lvl="1" marL="457200" indent="-2286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Behaviors: accelerate(), brake(), refuel()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A class is the blueprint for objects; each object built from it is an instance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KEYWORD APART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vs. struct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In C++, struct and class can both hold data AND functions — they are almost identical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The ONLY technical difference: default access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struct members are public by default</a:t>
            </a:r>
            <a:endParaRPr lang="en-US" sz="1700" dirty="0"/>
          </a:p>
          <a:p>
            <a:pPr lvl="1" marL="457200" indent="-2286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class members are private by default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Convention (not a rule): use struct for simple data bags with no real behavior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Convention: use class when you have behavior to bundle in and want to hide internal details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THE WIRING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 Specifiers: public and private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583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Encapsulation: hide an object's internal data, expose only what callers actually need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public: — members that outside code CAN access directly</a:t>
            </a:r>
            <a:endParaRPr lang="en-US" sz="1700" dirty="0"/>
          </a:p>
          <a:p>
            <a:pPr lvl="1" marL="457200" indent="-2286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The class's interface — its "front panel"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private: — members that outside code CANNOT access directly</a:t>
            </a:r>
            <a:endParaRPr lang="en-US" sz="1700" dirty="0"/>
          </a:p>
          <a:p>
            <a:pPr lvl="1" marL="457200" indent="-2286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Only the class's own member functions can touch them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Analogy: driving a car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Public: steering wheel, pedals, gear shift — what you interact with</a:t>
            </a:r>
            <a:endParaRPr lang="en-US" sz="1700" dirty="0"/>
          </a:p>
          <a:p>
            <a:pPr lvl="1" marL="457200" indent="-2286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Private: engine timing, fuel injection — internals you never touch directly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52360" y="1691640"/>
            <a:ext cx="3977640" cy="292608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26680" y="22402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data means a class can protect itself from being set to invalid or inconsistent values from the outside.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LIVE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 Variables and Member Functions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58000" cy="3645408"/>
          </a:xfrm>
          <a:prstGeom prst="rect">
            <a:avLst/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029968"/>
            <a:ext cx="6309360" cy="314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setName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newName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newName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getName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35240" y="1645920"/>
            <a:ext cx="3977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private: section holds the MEMBER VARIABLES — the object's own data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public: section holds the MEMBER FUNCTIONS — how outside code interacts with the object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Member functions can read and write private variables freely; outside code cannot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Every Student object gets its own separate copy of name and id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OBJECT CORRECTLY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Constructors: Default and Parameterized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58000" cy="4081272"/>
          </a:xfrm>
          <a:prstGeom prst="rect">
            <a:avLst/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029968"/>
            <a:ext cx="6309360" cy="3578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studentName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studentName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"Ava Thompson"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35240" y="1645920"/>
            <a:ext cx="3977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A constructor is a special member function that runs automatically when an object is created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It shares the class's name and has NO return type — not even void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This is a parameterized constructor — it requires arguments to build the object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Student s("Ava Thompson", 1024); calls the constructor and initializes name and id immediately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A default constructor (no parameters) is generated automatically only if you write no constructor at all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NOTE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this Pointer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Inside a member function, this refers to the specific object the function was called on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Mostly useful when a parameter name matches a member name: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Student(string name) { this-&gt;name = name; }</a:t>
            </a:r>
            <a:endParaRPr lang="en-US" sz="1700" dirty="0"/>
          </a:p>
          <a:p>
            <a:pPr lvl="1" marL="457200" indent="-2286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this-&gt;name means "my member variable"; name alone means "the parameter"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Our Student constructor avoids the clash by naming parameters studentName and studentId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You won't need this often at this level — just recognize it when you see 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2834640" cy="3657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BUILD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Build: The Student Class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858000" cy="4572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83080"/>
            <a:ext cx="6858000" cy="292608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87452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187452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" y="187452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7830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167128"/>
            <a:ext cx="63093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iostream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studentName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studentId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studentName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studentId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addGrade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push_back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getAverage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"Ava Thompson"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addGrade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addGrade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addGrade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"Marcus Lee"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1025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addGrade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addGrade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addGrade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getAverage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endl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getAverage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endl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635240" y="1783080"/>
            <a:ext cx="3977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One Student object now holds its own name, id, AND grades together — nothing to keep in sync by hand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The constructor sets name and id the moment an object is created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addGrade() appends to that object's own private grades vector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getAverage() computes the average using only this object's own data — no parameters needed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This is the exact same Student class Module 7 will extend — the shape stays fixed from here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EXERCISE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 getLetterGrade() Member Function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6766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800" dirty="0">
                <a:solidFill>
                  <a:srgbClr val="F2F2F2"/>
                </a:solidFill>
              </a:rPr>
              <a:t>Add char getLetterGrade() to the Student class — it takes NO parameters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800" dirty="0">
                <a:solidFill>
                  <a:srgbClr val="F2F2F2"/>
                </a:solidFill>
              </a:rPr>
              <a:t>Reuse the grade-band logic from Modules 3-4: &gt;=90 'A', &gt;=80 'B', &gt;=70 'C', &gt;=60 'D', else 'F'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800" dirty="0">
                <a:solidFill>
                  <a:srgbClr val="F2F2F2"/>
                </a:solidFill>
              </a:rPr>
              <a:t>Inside getLetterGrade(), call this object's own getAverage() to get the number to check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800" dirty="0">
                <a:solidFill>
                  <a:srgbClr val="F2F2F2"/>
                </a:solidFill>
              </a:rPr>
              <a:t>In main(), print each student's letter grade alongside their average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0"/>
            <a:ext cx="3977640" cy="2743200"/>
          </a:xfrm>
          <a:prstGeom prst="rect">
            <a:avLst/>
          </a:prstGeom>
          <a:solidFill>
            <a:srgbClr val="2A2A3D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0" y="242316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D8E8"/>
                </a:solidFill>
              </a:rPr>
              <a:t>A member function can call another member function on the same object just by name — getAverage(), no dot needed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D8E8"/>
                </a:solidFill>
              </a:rPr>
              <a:t>No need to pass grades or an average in as a parameter — the object already has that data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D8E8"/>
                </a:solidFill>
              </a:rPr>
              <a:t>Copy the same if / else if chain from getLetterGrade() in Module 3-4, just drop the parameter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A2A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RECAP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struct and class differ only in default access — public for struct, private for class</a:t>
            </a:r>
            <a:endParaRPr lang="en-US" sz="1800" dirty="0"/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Encapsulation hides data behind private: and exposes behavior through public: member functions</a:t>
            </a:r>
            <a:endParaRPr lang="en-US" sz="1800" dirty="0"/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A constructor runs automatically on creation and initializes an object's member variables</a:t>
            </a:r>
            <a:endParaRPr lang="en-US" sz="1800" dirty="0"/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Member functions live inside the class and can freely use the object's own private data</a:t>
            </a:r>
            <a:endParaRPr lang="en-US" sz="1800" dirty="0"/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The new Student class replaces two fragile parallel vectors with one self-contained object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2A2A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A500"/>
                </a:solidFill>
              </a:rPr>
              <a:t>NEXT UP   </a:t>
            </a:r>
            <a:pPr indent="0" marL="0">
              <a:buNone/>
            </a:pPr>
            <a:r>
              <a:rPr lang="en-US" sz="1400" i="1" dirty="0">
                <a:solidFill>
                  <a:srgbClr val="F2F2F2"/>
                </a:solidFill>
              </a:rPr>
              <a:t>Module 7 — Deepening Classes: getters/setters, const-correctness, operator overloading, and a Course class holding a vector&lt;Student&gt;.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Structs &amp; Introduction to Classes</dc:title>
  <dc:subject>PptxGenJS Presentation</dc:subject>
  <dc:creator>C++ Fundamentals Course</dc:creator>
  <cp:lastModifiedBy>C++ Fundamentals Course</cp:lastModifiedBy>
  <cp:revision>1</cp:revision>
  <dcterms:created xsi:type="dcterms:W3CDTF">2026-08-29T18:23:46Z</dcterms:created>
  <dcterms:modified xsi:type="dcterms:W3CDTF">2026-08-29T18:23:46Z</dcterms:modified>
</cp:coreProperties>
</file>